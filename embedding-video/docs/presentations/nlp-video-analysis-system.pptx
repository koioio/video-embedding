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12188952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2688336"/>
            <a:ext cx="12188952" cy="9144"/>
          </a:xfrm>
          <a:prstGeom prst="rect">
            <a:avLst/>
          </a:prstGeom>
          <a:solidFill>
            <a:srgbClr val="0D9488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《自然语言处理》课程大作业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基于大语言模型与向量检索的</a:t>
            </a:r>
            <a:endParaRPr lang="en-US" sz="36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智能教学视频分析与推荐系统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系统设计与实现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  |  23软工智能6  |  2315925647  |  </a:t>
            </a:r>
            <a:r>
              <a:rPr lang="zh-CN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王文玉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于彬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2025年6月11日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00584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1005840" y="100584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问题背景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45720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教学视频资源爆发增长，但传统视频服务缺乏内容理解能力，学生难以从海量视频中快速定位知识点片段。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1005840" y="228600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45720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利用ASR自动语音识别将视频音频转为文本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借助大语言模型(LLM)智能分析转写文本，识别知识点边界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通过Embedding向量化技术建立语义检索索引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基于pgvector向量数据库实现精准的题目-视频片段匹配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技术栈一览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1691640"/>
            <a:ext cx="54864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6720840" y="169164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自动语音识别 (ASR)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1947672"/>
            <a:ext cx="4389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视频音频→文本转写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331720"/>
            <a:ext cx="54864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6720840" y="233172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大语言模型 (LLM)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4389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转写文本→智能分段 + 标题生成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2971800"/>
            <a:ext cx="54864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6720840" y="297180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Embedding向量化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3227832"/>
            <a:ext cx="4389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文本片段→ 1536维向量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3611880"/>
            <a:ext cx="54864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4" name="Text 22"/>
          <p:cNvSpPr/>
          <p:nvPr/>
        </p:nvSpPr>
        <p:spPr>
          <a:xfrm>
            <a:off x="6720840" y="361188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pgvector检索引擎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3867912"/>
            <a:ext cx="4389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余弦相似度→ Top-K相关片段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4251960"/>
            <a:ext cx="54864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6720840" y="425196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Redis Streams任务队列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4507992"/>
            <a:ext cx="4389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异步调度 + 消费者组 + DLQ死信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4892040"/>
            <a:ext cx="54864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6720840" y="489204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FFmpeg视频处理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5148072"/>
            <a:ext cx="4389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视频转码 + HLS切片 + 封面提取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系统架构设计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0058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05840"/>
            <a:ext cx="91440" cy="10515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1188720" y="10972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接入层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9875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Router + REST API，统一JSON响应格式，Swagger文档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40280"/>
            <a:ext cx="91440" cy="10515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1188720" y="23317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应用层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697480"/>
            <a:ext cx="9875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videoapp.Service：上传/播放/推荐/题库/观看记录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74720"/>
            <a:ext cx="91440" cy="1051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1188720" y="3566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异步层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931920"/>
            <a:ext cx="9875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Transcode Worker (FFmpeg HLS) + Vector Worker (ASR/LLM/Embedding)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709160"/>
            <a:ext cx="91440" cy="105156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20" name="Text 18"/>
          <p:cNvSpPr/>
          <p:nvPr/>
        </p:nvSpPr>
        <p:spPr>
          <a:xfrm>
            <a:off x="1188720" y="4800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基础设施层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166360"/>
            <a:ext cx="9875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PostgreSQL+pgvector | Redis Streams | S3对象存储 | FFmpeg/AI服务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989320"/>
            <a:ext cx="10515600" cy="411480"/>
          </a:xfrm>
          <a:prstGeom prst="roundRect">
            <a:avLst>
              <a:gd name="adj" fmla="val 13333"/>
            </a:avLst>
          </a:prstGeom>
          <a:solidFill>
            <a:srgbClr val="1B2A4A"/>
          </a:solidFill>
        </p:spPr>
      </p:sp>
      <p:sp>
        <p:nvSpPr>
          <p:cNvPr id="23" name="Text 21"/>
          <p:cNvSpPr/>
          <p:nvPr/>
        </p:nvSpPr>
        <p:spPr>
          <a:xfrm>
            <a:off x="1005840" y="598932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架构关键词：统一HTTP接入 + 长任务异步化 + 存算分离 + 推荐链路可降级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核心NLP流水线：四阶段向量化引擎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1234440"/>
            <a:ext cx="822960" cy="8229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1600200" y="12344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Prepare 准备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2331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21031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视频元数据校验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时长探测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生成粗分段计划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109728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234440"/>
            <a:ext cx="822960" cy="82296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4" name="Text 12"/>
          <p:cNvSpPr/>
          <p:nvPr/>
        </p:nvSpPr>
        <p:spPr>
          <a:xfrm>
            <a:off x="4434840" y="12344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Coarse 粗处理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331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2834640"/>
            <a:ext cx="21031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FFmpeg切片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抽取音频 16kHz WAV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ASR识别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09728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9480" y="1234440"/>
            <a:ext cx="822960" cy="82296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0" name="Text 18"/>
          <p:cNvSpPr/>
          <p:nvPr/>
        </p:nvSpPr>
        <p:spPr>
          <a:xfrm>
            <a:off x="7269480" y="12344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Refine 精修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2331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2834640"/>
            <a:ext cx="21031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LLM语义分析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优化分段方案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ASR + Embedding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109728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04120" y="1234440"/>
            <a:ext cx="822960" cy="82296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10104120" y="12344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418320" y="22402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Finalize 完成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64040" y="2834640"/>
            <a:ext cx="21031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写入片段向量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更新状态</a:t>
            </a:r>
            <a:endParaRPr lang="en-US" sz="11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异常补偿清理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6610" y="4446270"/>
            <a:ext cx="97790" cy="412115"/>
          </a:xfrm>
          <a:prstGeom prst="rect">
            <a:avLst/>
          </a:prstGeom>
          <a:solidFill>
            <a:srgbClr val="0D9488"/>
          </a:solidFill>
        </p:spPr>
        <p:txBody>
          <a:bodyPr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58545" y="444627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流水线特点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" y="5055870"/>
            <a:ext cx="103327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四个独立Redis Streams队列串联：prepare → coarse → refine → finalize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每个阶段独立消费者组，支持水平扩展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Coarse阶段支持2个视频并发，单视频内部60个协程并发分片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阶段状态通过PostgreSQL追踪，支持异常中断后恢复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语义检索与推荐算法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18872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1005840" y="11887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推荐流程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1005840" y="1737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7373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题目文本输入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0116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接收question_id或question_text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743200"/>
            <a:ext cx="502920" cy="5029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1005840" y="2743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7432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Embedding向量化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01752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text-embedding-v4 → 1536维向量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749040"/>
            <a:ext cx="502920" cy="5029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0" name="Text 18"/>
          <p:cNvSpPr/>
          <p:nvPr/>
        </p:nvSpPr>
        <p:spPr>
          <a:xfrm>
            <a:off x="1005840" y="37490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251960"/>
            <a:ext cx="320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749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pgvector余弦相似度检索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40233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ORDER BY vec &lt;=&gt; query_vec LIMIT 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4754880"/>
            <a:ext cx="502920" cy="5029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5" name="Text 23"/>
          <p:cNvSpPr/>
          <p:nvPr/>
        </p:nvSpPr>
        <p:spPr>
          <a:xfrm>
            <a:off x="1005840" y="47548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37360" y="47548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Top-K片段返回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37360" y="50292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返回最相关视频片段及元数据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005840"/>
            <a:ext cx="530352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118872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6675120" y="11887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1691640"/>
            <a:ext cx="45720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语义理解而非关键词匹配，捕捉深层语义关联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支持跨学科知识点关联推荐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余弦相似度算法在高维空间中精确定位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82360" y="352044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365760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4" name="Text 32"/>
          <p:cNvSpPr/>
          <p:nvPr/>
        </p:nvSpPr>
        <p:spPr>
          <a:xfrm>
            <a:off x="6675120" y="3657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降级容错策略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92240" y="4206240"/>
            <a:ext cx="365760" cy="411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6" name="Text 34"/>
          <p:cNvSpPr/>
          <p:nvPr/>
        </p:nvSpPr>
        <p:spPr>
          <a:xfrm>
            <a:off x="6492240" y="4206240"/>
            <a:ext cx="365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L1 主路径</a:t>
            </a:r>
            <a:endParaRPr lang="en-US" sz="900" b="1" dirty="0">
              <a:solidFill>
                <a:schemeClr val="tx1"/>
              </a:solidFill>
              <a:latin typeface="Georgia" panose="02040502050405090303" pitchFamily="34" charset="0"/>
              <a:ea typeface="Georgia" panose="02040502050405090303" pitchFamily="34" charset="-122"/>
              <a:cs typeface="Georgia" panose="02040502050405090303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95160" y="420624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远程Embedding服务向量检索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21240" y="420624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准确率 82.3%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4800600"/>
            <a:ext cx="365760" cy="411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0" name="Text 38"/>
          <p:cNvSpPr/>
          <p:nvPr/>
        </p:nvSpPr>
        <p:spPr>
          <a:xfrm>
            <a:off x="6492240" y="4800600"/>
            <a:ext cx="365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L2 降级1</a:t>
            </a:r>
            <a:endParaRPr lang="en-US" sz="900" b="1" dirty="0">
              <a:solidFill>
                <a:schemeClr val="tx1"/>
              </a:solidFill>
              <a:latin typeface="Georgia" panose="02040502050405090303" pitchFamily="34" charset="0"/>
              <a:ea typeface="Georgia" panose="02040502050405090303" pitchFamily="34" charset="-122"/>
              <a:cs typeface="Georgia" panose="02040502050405090303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95160" y="480060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本地缓存Embedding向量检索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21240" y="48006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准确率 76.1%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5394960"/>
            <a:ext cx="365760" cy="4114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4" name="Text 42"/>
          <p:cNvSpPr/>
          <p:nvPr/>
        </p:nvSpPr>
        <p:spPr>
          <a:xfrm>
            <a:off x="6492240" y="5394960"/>
            <a:ext cx="365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L3 降级2</a:t>
            </a:r>
            <a:endParaRPr lang="en-US" sz="900" b="1" dirty="0">
              <a:solidFill>
                <a:schemeClr val="tx1"/>
              </a:solidFill>
              <a:latin typeface="Georgia" panose="02040502050405090303" pitchFamily="34" charset="0"/>
              <a:ea typeface="Georgia" panose="02040502050405090303" pitchFamily="34" charset="-122"/>
              <a:cs typeface="Georgia" panose="02040502050405090303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95160" y="539496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关键词全文检索回退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21240" y="539496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准确率 54.7%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77610" y="612521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降级时响应中标记 degraded=true，通知上层当前结果来源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LLM驱动的视频内容智能分段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</p:spPr>
      </p:sp>
      <p:sp>
        <p:nvSpPr>
          <p:cNvPr id="7" name="Shape 5"/>
          <p:cNvSpPr/>
          <p:nvPr/>
        </p:nvSpPr>
        <p:spPr>
          <a:xfrm>
            <a:off x="822960" y="118872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1005840" y="1188720"/>
            <a:ext cx="4389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传统分段的问题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3891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固定时长切分：忽略语义边界，可能在句子中间截断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单纯基于音频的静音检测：无法区分主题转变和知识点过渡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人工分段：耗时且不可扩展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1B2A4A"/>
          </a:solidFill>
        </p:spPr>
      </p:sp>
      <p:sp>
        <p:nvSpPr>
          <p:cNvPr id="11" name="Text 9"/>
          <p:cNvSpPr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LLM智能分段方案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重叠滑动窗口：30s窗口 + 20s步长，确保语义边界不被割裂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03911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提示工程：引导LLM关注主题连贯性、知识点边界、自然过渡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386584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尾部对齐：最多顺延6s，让分段在语义自然结束点收尾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734056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temperature=0.3，保证分段结果的一致性和可复现性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1005840" y="347472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分段效果评估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</p:spPr>
      </p:sp>
      <p:sp>
        <p:nvSpPr>
          <p:cNvPr id="19" name="Text 17"/>
          <p:cNvSpPr/>
          <p:nvPr/>
        </p:nvSpPr>
        <p:spPr>
          <a:xfrm>
            <a:off x="822960" y="4114800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87.6%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0120" y="4754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分段正确率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9776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</p:spPr>
      </p:sp>
      <p:sp>
        <p:nvSpPr>
          <p:cNvPr id="22" name="Text 20"/>
          <p:cNvSpPr/>
          <p:nvPr/>
        </p:nvSpPr>
        <p:spPr>
          <a:xfrm>
            <a:off x="3657600" y="4114800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794760" y="4754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知识点边界识别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9776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</p:spPr>
      </p:sp>
      <p:sp>
        <p:nvSpPr>
          <p:cNvPr id="25" name="Text 23"/>
          <p:cNvSpPr/>
          <p:nvPr/>
        </p:nvSpPr>
        <p:spPr>
          <a:xfrm>
            <a:off x="6492240" y="4114800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5.2%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629400" y="4754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过渡归属模糊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26880" y="39776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</p:spPr>
      </p:sp>
      <p:sp>
        <p:nvSpPr>
          <p:cNvPr id="28" name="Text 26"/>
          <p:cNvSpPr/>
          <p:nvPr/>
        </p:nvSpPr>
        <p:spPr>
          <a:xfrm>
            <a:off x="9326880" y="4114800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4.1%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464040" y="4754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短知识点丢失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66928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1" name="Text 29"/>
          <p:cNvSpPr/>
          <p:nvPr/>
        </p:nvSpPr>
        <p:spPr>
          <a:xfrm>
            <a:off x="1005840" y="566928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错误分析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598932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主要错误类型：过渡性内容归属模糊(5.2%) &gt; 短知识点丢失(4.1%) &gt; 噪音文本影响(2.1%)。噪音环境下LLM分段质量受ASR转写质量影响较大，未来将引入降噪预处理模块。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实验结果与性能分析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3474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94.5%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ASR识别准确率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(板书讲解场景)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097280"/>
            <a:ext cx="3474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82.3%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Top-5推荐准确率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(正常模式)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0058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097280"/>
            <a:ext cx="3474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~2m40s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182880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单15min视频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完整向量化耗时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15920"/>
            <a:ext cx="5668645" cy="330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10896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1005840" y="310896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推荐效果详细指标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182880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657600"/>
            <a:ext cx="137160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正常模式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118872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降级模式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657600"/>
            <a:ext cx="109728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133088"/>
            <a:ext cx="18288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Top-5准确率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43200" y="4133088"/>
            <a:ext cx="13716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0" y="4133088"/>
            <a:ext cx="11887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03520" y="4133088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-6.2%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4608576"/>
            <a:ext cx="18288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Top-10召回率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0" y="4608576"/>
            <a:ext cx="13716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14800" y="4608576"/>
            <a:ext cx="11887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03520" y="4608576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-6.2%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4400" y="5084064"/>
            <a:ext cx="18288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平均查询延迟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43200" y="5084064"/>
            <a:ext cx="13716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85ms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14800" y="5084064"/>
            <a:ext cx="11887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120ms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5084064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5559552"/>
            <a:ext cx="18288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可用性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43200" y="5559552"/>
            <a:ext cx="13716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114800" y="5559552"/>
            <a:ext cx="11887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03520" y="5559552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</a:t>
            </a:r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0" y="2926080"/>
            <a:ext cx="5852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92240" y="3108960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0" name="Text 38"/>
          <p:cNvSpPr/>
          <p:nvPr/>
        </p:nvSpPr>
        <p:spPr>
          <a:xfrm>
            <a:off x="6675120" y="310896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对比实验结果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3680" y="3657600"/>
            <a:ext cx="256032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0" y="3657600"/>
            <a:ext cx="91440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0" y="3657600"/>
            <a:ext cx="91440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72800" y="3657600"/>
            <a:ext cx="1097280" cy="4114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4133088"/>
            <a:ext cx="25603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Embedding模型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44000" y="4133088"/>
            <a:ext cx="9144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v4(1536维) 82.3%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058400" y="4133088"/>
            <a:ext cx="9144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v3(1024维) 79.1%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972800" y="4133088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v4优势+3.2%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583680" y="4608576"/>
            <a:ext cx="25603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Coarse分段时长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144000" y="4608576"/>
            <a:ext cx="9144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→ 82.3%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058400" y="4608576"/>
            <a:ext cx="9144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50s → 76.2%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972800" y="4608576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细粒度更优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583680" y="5084064"/>
            <a:ext cx="256032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降级策略</a:t>
            </a:r>
            <a:endParaRPr lang="en-US" sz="9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144000" y="5084064"/>
            <a:ext cx="9144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L1本地 76.1%</a:t>
            </a:r>
            <a:endParaRPr lang="en-US" sz="9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058400" y="5084064"/>
            <a:ext cx="91440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L2关键词 54.7%</a:t>
            </a:r>
            <a:endParaRPr lang="en-US" sz="9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972800" y="5084064"/>
            <a:ext cx="1097280" cy="411480"/>
          </a:xfrm>
          <a:prstGeom prst="rect">
            <a:avLst/>
          </a:prstGeom>
          <a:solidFill>
            <a:srgbClr val="0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Embedding可用</a:t>
            </a:r>
            <a:endParaRPr lang="en-US" sz="9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系统可靠性设计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</p:spPr>
      </p:sp>
      <p:sp>
        <p:nvSpPr>
          <p:cNvPr id="7" name="Shape 5"/>
          <p:cNvSpPr/>
          <p:nvPr/>
        </p:nvSpPr>
        <p:spPr>
          <a:xfrm>
            <a:off x="548640" y="1005840"/>
            <a:ext cx="53035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Redis Streams任务队列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消费者组模式：多Worker并发消费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成功后ACK确认，避免重复处理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可重试失败重新入队，自动重试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DLQ死信队列：终态失败隔离与排查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</p:spPr>
      </p:sp>
      <p:sp>
        <p:nvSpPr>
          <p:cNvPr id="14" name="Shape 12"/>
          <p:cNvSpPr/>
          <p:nvPr/>
        </p:nvSpPr>
        <p:spPr>
          <a:xfrm>
            <a:off x="6309360" y="1005840"/>
            <a:ext cx="530352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5" name="Text 13"/>
          <p:cNvSpPr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上传一致性补偿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164592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对象上传后记录创建失败→删除已上传对象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0574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转码状态写入失败→标记FAILED+清理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4688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任务入队失败→标记FAILED+清理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288036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向量化任务入队为尽力而为，不阻断主链路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</p:spPr>
      </p:sp>
      <p:sp>
        <p:nvSpPr>
          <p:cNvPr id="21" name="Shape 19"/>
          <p:cNvSpPr/>
          <p:nvPr/>
        </p:nvSpPr>
        <p:spPr>
          <a:xfrm>
            <a:off x="548640" y="3703320"/>
            <a:ext cx="530352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731520" y="38862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AI服务降级容错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三层降级：远程 → 本地缓存 → 关键词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7548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降级时返回200+标记degraded=true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516636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不把AI服务抖动直接暴露给调用方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57784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向量化Worker增加细粒度AI错误重试与退避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70332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</p:spPr>
      </p:sp>
      <p:sp>
        <p:nvSpPr>
          <p:cNvPr id="28" name="Shape 26"/>
          <p:cNvSpPr/>
          <p:nvPr/>
        </p:nvSpPr>
        <p:spPr>
          <a:xfrm>
            <a:off x="6309360" y="3703320"/>
            <a:ext cx="53035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6492240" y="38862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大文件断点续传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9400" y="43434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普通视频和ZIP批量均支持分片上传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47548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分片序号从0开始，最后一片自动计算大小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516636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客户端重试时可查询已上传分片并跳过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557784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服务端只报大小正确的分片计入上传状态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技术实现与编码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566160" cy="8229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457200" y="105156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后端服务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1.21+ 语言构建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Web框架(REST API)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1810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分层架构：访问/应用/领域/基础设施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4845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ants协程池并发处理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17880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统一JSON响应格式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Swagger自动文档生成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23951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CORS跨域中间件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76986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REST接口全覆盖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1005840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1005840"/>
            <a:ext cx="3566160" cy="8229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0" name="Text 18"/>
          <p:cNvSpPr/>
          <p:nvPr/>
        </p:nvSpPr>
        <p:spPr>
          <a:xfrm>
            <a:off x="4389120" y="105156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137160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17720" y="20574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13+ 主数据库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258775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pgvector向量扩展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311810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 ORM框架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364845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6+ 缓存+队列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417880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S3兼容对象存储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AutoMigrate自动迁移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523951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余弦/欧氏距离检索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576986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分片断点续传支持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1005840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005840"/>
            <a:ext cx="3566160" cy="8229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8321040" y="105156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运维部署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137160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☁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49640" y="20574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Compose编排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49640" y="258775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独立HTTP+Worker进程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49640" y="311810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环境变量覆盖配置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49640" y="364845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Docker容器化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49640" y="417880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健康检查/healthz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49640" y="47091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优雅关闭机制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523951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Vue3+Vite调试前端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49640" y="576986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日志分级记录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核心技术优势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263B5E"/>
          </a:solidFill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645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777240" y="11887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多NLP技术集成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将ASR、LLM、Embedding三大NLP核心技术有机集成到统一视频处理流水线中，形成从音频到文本再到向量的完整转化链路。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263B5E"/>
          </a:solidFill>
        </p:spPr>
      </p:sp>
      <p:sp>
        <p:nvSpPr>
          <p:cNvPr id="9" name="Shape 7"/>
          <p:cNvSpPr/>
          <p:nvPr/>
        </p:nvSpPr>
        <p:spPr>
          <a:xfrm>
            <a:off x="6309360" y="1097280"/>
            <a:ext cx="64008" cy="16459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6537960" y="11887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四阶段分层向量化流水线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60020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设计Prepare→Coarse→Refine→Finalize四阶段准实时流水线，每个阶段独立扩展、独立监控，支持水平扩展和异常恢复。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263B5E"/>
          </a:solidFill>
        </p:spPr>
      </p:sp>
      <p:sp>
        <p:nvSpPr>
          <p:cNvPr id="13" name="Shape 11"/>
          <p:cNvSpPr/>
          <p:nvPr/>
        </p:nvSpPr>
        <p:spPr>
          <a:xfrm>
            <a:off x="548640" y="2926080"/>
            <a:ext cx="64008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777240" y="30175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多层降级容错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设计三层降级策略，AI服务故障时自动切换为本地Embedding模式，保证推荐功能始终可用。降级时的Top-5准确率仍达76.1%。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263B5E"/>
          </a:solidFill>
        </p:spPr>
      </p:sp>
      <p:sp>
        <p:nvSpPr>
          <p:cNvPr id="17" name="Shape 15"/>
          <p:cNvSpPr/>
          <p:nvPr/>
        </p:nvSpPr>
        <p:spPr>
          <a:xfrm>
            <a:off x="6309360" y="2926080"/>
            <a:ext cx="64008" cy="1645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6537960" y="30175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可靠的异步任务体系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42900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基于Redis Streams消费者组+ACK确认+DLQ死信队列构建可靠任务调度，保证任务不丢失、不重复、失败可追溯。上传链路具备一致性补偿能力。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263B5E"/>
          </a:solidFill>
        </p:spPr>
      </p:sp>
      <p:sp>
        <p:nvSpPr>
          <p:cNvPr id="21" name="Shape 19"/>
          <p:cNvSpPr/>
          <p:nvPr/>
        </p:nvSpPr>
        <p:spPr>
          <a:xfrm>
            <a:off x="548640" y="4754880"/>
            <a:ext cx="64008" cy="16459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2" name="Text 20"/>
          <p:cNvSpPr/>
          <p:nvPr/>
        </p:nvSpPr>
        <p:spPr>
          <a:xfrm>
            <a:off x="777240" y="48463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语义检索代替关键词匹配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使用pgvector余弦相似度检索，捕捉题目与视频片段之间的深层语义关联。即使用户输入的关键词与视频标题不一致，仍能找到相关内容。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7548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263B5E"/>
          </a:solidFill>
        </p:spPr>
      </p:sp>
      <p:sp>
        <p:nvSpPr>
          <p:cNvPr id="25" name="Shape 23"/>
          <p:cNvSpPr/>
          <p:nvPr/>
        </p:nvSpPr>
        <p:spPr>
          <a:xfrm>
            <a:off x="6309360" y="4754880"/>
            <a:ext cx="64008" cy="16459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26" name="Text 24"/>
          <p:cNvSpPr/>
          <p:nvPr/>
        </p:nvSpPr>
        <p:spPr>
          <a:xfrm>
            <a:off x="6537960" y="48463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完整的工程实践闭环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525780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从视频上传、转码、ASR转写、LLM分析、Embedding向量化到语义检索推荐，形成完整的NLP工程实践闭环。项目代码完整可运行，具备落地价值。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课程收获：通过本课题，深入理解了ASR、大语言模型、Embedding向量化等NLP技术在真实工程场景中的应用与集成。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NLP课程大作业  |  智能教学视频分析与推荐系统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978535"/>
            <a:ext cx="5303520" cy="5120640"/>
          </a:xfrm>
          <a:prstGeom prst="roundRect">
            <a:avLst>
              <a:gd name="adj" fmla="val 1786"/>
            </a:avLst>
          </a:prstGeom>
          <a:solidFill>
            <a:srgbClr val="F8FAFC"/>
          </a:solidFill>
        </p:spPr>
      </p:sp>
      <p:sp>
        <p:nvSpPr>
          <p:cNvPr id="7" name="Text 5"/>
          <p:cNvSpPr/>
          <p:nvPr/>
        </p:nvSpPr>
        <p:spPr>
          <a:xfrm>
            <a:off x="822960" y="11887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已完成工作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设计并实现四阶段分层向量化流水线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集成ASR+LLM+Embedding+NLP技术栈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构建Redis Streams异步任务调度体系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实现多层降级容错策略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基于pgvector的语义检索推荐引擎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完成视频上传/转码/播放/推荐闭环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实现分片断点续传与上传一致性补偿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8920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构建100题题库+20视频测试数据集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完成ASR/分段/推荐多维度实验评估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8064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实现Vue3调试前端+Swagger文档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5303520" cy="5120640"/>
          </a:xfrm>
          <a:prstGeom prst="roundRect">
            <a:avLst>
              <a:gd name="adj" fmla="val 1786"/>
            </a:avLst>
          </a:prstGeom>
          <a:solidFill>
            <a:srgbClr val="1B2A4A"/>
          </a:solidFill>
        </p:spPr>
      </p:sp>
      <p:sp>
        <p:nvSpPr>
          <p:cNvPr id="19" name="Text 17"/>
          <p:cNvSpPr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未来工作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173736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672084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多路召回推荐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1965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引入多路召回+重排序机制，提升推荐多样性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51460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4" name="Text 22"/>
          <p:cNvSpPr/>
          <p:nvPr/>
        </p:nvSpPr>
        <p:spPr>
          <a:xfrm>
            <a:off x="6720840" y="246888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大规模性能测试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7432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在更大规模数据集上验证系统性能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29184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6720840" y="32461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更多 NLP模型对比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5204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引入Whisper/BERT/GPT等替代模型对比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406908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6720840" y="40233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前端交互优化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42976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开发完善的用户交互界面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484632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3" name="Text 31"/>
          <p:cNvSpPr/>
          <p:nvPr/>
        </p:nvSpPr>
        <p:spPr>
          <a:xfrm>
            <a:off x="672084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知识图谱构建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5074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基于视频内容自动构建学科知识图谱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562356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6" name="Text 34"/>
          <p:cNvSpPr/>
          <p:nvPr/>
        </p:nvSpPr>
        <p:spPr>
          <a:xfrm>
            <a:off x="6720840" y="55778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A/B实验框架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58521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引入推荐算法A/B测试框架持续优化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6172200"/>
            <a:ext cx="105156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</p:spPr>
      </p:sp>
      <p:sp>
        <p:nvSpPr>
          <p:cNvPr id="39" name="Text 37"/>
          <p:cNvSpPr/>
          <p:nvPr/>
        </p:nvSpPr>
        <p:spPr>
          <a:xfrm>
            <a:off x="1005840" y="617220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本课题达成预期设计目标，在自然语言处理技术的工程应用方面取得了丰富的实践经验。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12188952" cy="274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感谢指导老师！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0" y="3474720"/>
            <a:ext cx="5760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基于大语言模型与向量检索的</a:t>
            </a:r>
            <a:endParaRPr lang="en-US" sz="16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智能教学视频分析与推荐系统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  |  23软工智能6  |  2315925647  |  张三  |  指导老师：于彬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3954</Words>
  <Application>WPS 演示</Application>
  <PresentationFormat>On-screen Show (16:9)</PresentationFormat>
  <Paragraphs>531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汉仪书宋二KW</vt:lpstr>
      <vt:lpstr>宋体</vt:lpstr>
      <vt:lpstr>微软雅黑</vt:lpstr>
      <vt:lpstr>汉仪旗黑</vt:lpstr>
      <vt:lpstr>Arial Unicode MS</vt:lpstr>
      <vt:lpstr>等线</vt:lpstr>
      <vt:lpstr>汉仪中等线KW</vt:lpstr>
      <vt:lpstr>华文仿宋</vt:lpstr>
      <vt:lpstr>儷宋 Pro</vt:lpstr>
      <vt:lpstr>Apple Color Emoji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王文玉</cp:lastModifiedBy>
  <cp:revision>4</cp:revision>
  <dcterms:created xsi:type="dcterms:W3CDTF">2026-06-11T11:41:53Z</dcterms:created>
  <dcterms:modified xsi:type="dcterms:W3CDTF">2026-06-11T11:41:53Z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7124180EB8B4BF53F6942A6AEEE249F1_42</vt:lpwstr>
  </property>
  <property fmtid="{D5CDD505-2E9C-101B-9397-08002B2CF9AE}" pid="3" name="KSOProductBuildVer">
    <vt:lpwstr>2052-12.1.26016.26016</vt:lpwstr>
  </property>
</Properties>
</file>