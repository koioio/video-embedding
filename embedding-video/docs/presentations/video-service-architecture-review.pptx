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3b7f7f9e1494d" /><Relationship Type="http://schemas.openxmlformats.org/officeDocument/2006/relationships/extended-properties" Target="/docProps/app.xml" Id="R2b9cc62f0f1f4d5d" /><Relationship Type="http://schemas.openxmlformats.org/officeDocument/2006/relationships/officeDocument" Target="/ppt/presentation.xml" Id="Rcc1587f7e55f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aab8614b147fa"/>
  </p:sldMasterIdLst>
  <p:notesMasterIdLst>
    <p:notesMasterId xmlns:r="http://schemas.openxmlformats.org/officeDocument/2006/relationships" r:id="Rda6b5ffc01514569"/>
  </p:notesMasterIdLst>
  <p:sldIdLst>
    <p:sldId xmlns:r="http://schemas.openxmlformats.org/officeDocument/2006/relationships" id="256" r:id="Rd6b16da98587409d"/>
    <p:sldId xmlns:r="http://schemas.openxmlformats.org/officeDocument/2006/relationships" id="257" r:id="Rb0e58c323203432e"/>
    <p:sldId xmlns:r="http://schemas.openxmlformats.org/officeDocument/2006/relationships" id="258" r:id="Rcc82459a70344a09"/>
    <p:sldId xmlns:r="http://schemas.openxmlformats.org/officeDocument/2006/relationships" id="259" r:id="R7ec9afa6d24f4320"/>
    <p:sldId xmlns:r="http://schemas.openxmlformats.org/officeDocument/2006/relationships" id="260" r:id="R1de5da41e6ab4d9c"/>
    <p:sldId xmlns:r="http://schemas.openxmlformats.org/officeDocument/2006/relationships" id="261" r:id="Rcc7a6fb3d959415b"/>
    <p:sldId xmlns:r="http://schemas.openxmlformats.org/officeDocument/2006/relationships" id="262" r:id="R9ca4bd3707d24876"/>
    <p:sldId xmlns:r="http://schemas.openxmlformats.org/officeDocument/2006/relationships" id="263" r:id="Rf414c7397e554391"/>
    <p:sldId xmlns:r="http://schemas.openxmlformats.org/officeDocument/2006/relationships" id="264" r:id="R1edd23851620485b"/>
    <p:sldId xmlns:r="http://schemas.openxmlformats.org/officeDocument/2006/relationships" id="265" r:id="Rbc5aabfff5ac4215"/>
    <p:sldId xmlns:r="http://schemas.openxmlformats.org/officeDocument/2006/relationships" id="266" r:id="R23d2a3d67aa44a71"/>
    <p:sldId xmlns:r="http://schemas.openxmlformats.org/officeDocument/2006/relationships" id="267" r:id="Rb06b88c47554418e"/>
    <p:sldId xmlns:r="http://schemas.openxmlformats.org/officeDocument/2006/relationships" id="268" r:id="Rc8df538963d44042"/>
    <p:sldId xmlns:r="http://schemas.openxmlformats.org/officeDocument/2006/relationships" id="269" r:id="R7faea16bf9444408"/>
    <p:sldId xmlns:r="http://schemas.openxmlformats.org/officeDocument/2006/relationships" id="270" r:id="R17ab7e22635240f5"/>
    <p:sldId xmlns:r="http://schemas.openxmlformats.org/officeDocument/2006/relationships" id="271" r:id="Rc2bab1d522664164"/>
    <p:sldId xmlns:r="http://schemas.openxmlformats.org/officeDocument/2006/relationships" id="272" r:id="Rd52e9641ccf54bf8"/>
    <p:sldId xmlns:r="http://schemas.openxmlformats.org/officeDocument/2006/relationships" id="273" r:id="R9bf932c031f0430e"/>
    <p:sldId xmlns:r="http://schemas.openxmlformats.org/officeDocument/2006/relationships" id="274" r:id="R57d908d1f2254765"/>
    <p:sldId xmlns:r="http://schemas.openxmlformats.org/officeDocument/2006/relationships" id="275" r:id="Rd2afef8ca58a489f"/>
    <p:sldId xmlns:r="http://schemas.openxmlformats.org/officeDocument/2006/relationships" id="276" r:id="Rda72b928ff43473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c68d75a1d34757" /><Relationship Type="http://schemas.openxmlformats.org/officeDocument/2006/relationships/slideMaster" Target="/ppt/slideMasters/slideMaster1.xml" Id="R74eaab8614b147fa" /><Relationship Type="http://schemas.openxmlformats.org/officeDocument/2006/relationships/notesMaster" Target="/ppt/notesMasters/notesMaster1.xml" Id="Rda6b5ffc01514569" /><Relationship Type="http://schemas.openxmlformats.org/officeDocument/2006/relationships/presProps" Target="/ppt/presProps.xml" Id="Ra366ef80b2124447" /><Relationship Type="http://schemas.openxmlformats.org/officeDocument/2006/relationships/viewProps" Target="/ppt/viewProps.xml" Id="R303274546e7743ef" /><Relationship Type="http://schemas.openxmlformats.org/officeDocument/2006/relationships/tableStyles" Target="/ppt/tableStyles.xml" Id="Ra8ea391db60f445d" /><Relationship Type="http://schemas.openxmlformats.org/officeDocument/2006/relationships/slide" Target="/ppt/slides/slide1.xml" Id="Rd6b16da98587409d" /><Relationship Type="http://schemas.openxmlformats.org/officeDocument/2006/relationships/slide" Target="/ppt/slides/slide2.xml" Id="Rb0e58c323203432e" /><Relationship Type="http://schemas.openxmlformats.org/officeDocument/2006/relationships/slide" Target="/ppt/slides/slide3.xml" Id="Rcc82459a70344a09" /><Relationship Type="http://schemas.openxmlformats.org/officeDocument/2006/relationships/slide" Target="/ppt/slides/slide4.xml" Id="R7ec9afa6d24f4320" /><Relationship Type="http://schemas.openxmlformats.org/officeDocument/2006/relationships/slide" Target="/ppt/slides/slide5.xml" Id="R1de5da41e6ab4d9c" /><Relationship Type="http://schemas.openxmlformats.org/officeDocument/2006/relationships/slide" Target="/ppt/slides/slide6.xml" Id="Rcc7a6fb3d959415b" /><Relationship Type="http://schemas.openxmlformats.org/officeDocument/2006/relationships/slide" Target="/ppt/slides/slide7.xml" Id="R9ca4bd3707d24876" /><Relationship Type="http://schemas.openxmlformats.org/officeDocument/2006/relationships/slide" Target="/ppt/slides/slide8.xml" Id="Rf414c7397e554391" /><Relationship Type="http://schemas.openxmlformats.org/officeDocument/2006/relationships/slide" Target="/ppt/slides/slide9.xml" Id="R1edd23851620485b" /><Relationship Type="http://schemas.openxmlformats.org/officeDocument/2006/relationships/slide" Target="/ppt/slides/slide10.xml" Id="Rbc5aabfff5ac4215" /><Relationship Type="http://schemas.openxmlformats.org/officeDocument/2006/relationships/slide" Target="/ppt/slides/slide11.xml" Id="R23d2a3d67aa44a71" /><Relationship Type="http://schemas.openxmlformats.org/officeDocument/2006/relationships/slide" Target="/ppt/slides/slide12.xml" Id="Rb06b88c47554418e" /><Relationship Type="http://schemas.openxmlformats.org/officeDocument/2006/relationships/slide" Target="/ppt/slides/slide13.xml" Id="Rc8df538963d44042" /><Relationship Type="http://schemas.openxmlformats.org/officeDocument/2006/relationships/slide" Target="/ppt/slides/slide14.xml" Id="R7faea16bf9444408" /><Relationship Type="http://schemas.openxmlformats.org/officeDocument/2006/relationships/slide" Target="/ppt/slides/slide15.xml" Id="R17ab7e22635240f5" /><Relationship Type="http://schemas.openxmlformats.org/officeDocument/2006/relationships/slide" Target="/ppt/slides/slide16.xml" Id="Rc2bab1d522664164" /><Relationship Type="http://schemas.openxmlformats.org/officeDocument/2006/relationships/slide" Target="/ppt/slides/slide17.xml" Id="Rd52e9641ccf54bf8" /><Relationship Type="http://schemas.openxmlformats.org/officeDocument/2006/relationships/slide" Target="/ppt/slides/slide18.xml" Id="R9bf932c031f0430e" /><Relationship Type="http://schemas.openxmlformats.org/officeDocument/2006/relationships/slide" Target="/ppt/slides/slide19.xml" Id="R57d908d1f2254765" /><Relationship Type="http://schemas.openxmlformats.org/officeDocument/2006/relationships/slide" Target="/ppt/slides/slide20.xml" Id="Rd2afef8ca58a489f" /><Relationship Type="http://schemas.openxmlformats.org/officeDocument/2006/relationships/slide" Target="/ppt/slides/slide21.xml" Id="Rda72b928ff4347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5d2947753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5ba6095454432" /><Relationship Type="http://schemas.openxmlformats.org/officeDocument/2006/relationships/notesMaster" Target="/ppt/notesMasters/notesMaster1.xml" Id="Rde00a7ab1b19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b9c06b5f04570" /><Relationship Type="http://schemas.openxmlformats.org/officeDocument/2006/relationships/notesMaster" Target="/ppt/notesMasters/notesMaster1.xml" Id="Ra9385bf145e1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b7540eaa047c4" /><Relationship Type="http://schemas.openxmlformats.org/officeDocument/2006/relationships/notesMaster" Target="/ppt/notesMasters/notesMaster1.xml" Id="Rf38a71f2dbaf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a903caaf8a4a20" /><Relationship Type="http://schemas.openxmlformats.org/officeDocument/2006/relationships/notesMaster" Target="/ppt/notesMasters/notesMaster1.xml" Id="R5e613f330d4244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634d712374c62" /><Relationship Type="http://schemas.openxmlformats.org/officeDocument/2006/relationships/notesMaster" Target="/ppt/notesMasters/notesMaster1.xml" Id="Rdbef24a7fbb9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69700d66784824" /><Relationship Type="http://schemas.openxmlformats.org/officeDocument/2006/relationships/notesMaster" Target="/ppt/notesMasters/notesMaster1.xml" Id="R7258333fe9ae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de3558f4bb43f6" /><Relationship Type="http://schemas.openxmlformats.org/officeDocument/2006/relationships/notesMaster" Target="/ppt/notesMasters/notesMaster1.xml" Id="R78131a516088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eea87fa53741b4" /><Relationship Type="http://schemas.openxmlformats.org/officeDocument/2006/relationships/notesMaster" Target="/ppt/notesMasters/notesMaster1.xml" Id="R4776a4f4523949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eb03729f2463a" /><Relationship Type="http://schemas.openxmlformats.org/officeDocument/2006/relationships/notesMaster" Target="/ppt/notesMasters/notesMaster1.xml" Id="R0aa6fafc5af64a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cc894ac7a7485c" /><Relationship Type="http://schemas.openxmlformats.org/officeDocument/2006/relationships/notesMaster" Target="/ppt/notesMasters/notesMaster1.xml" Id="R4c6f55cfa99949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3f7ccc8f344a3a" /><Relationship Type="http://schemas.openxmlformats.org/officeDocument/2006/relationships/notesMaster" Target="/ppt/notesMasters/notesMaster1.xml" Id="R9dcbae09c46a42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79cc0cc5324554" /><Relationship Type="http://schemas.openxmlformats.org/officeDocument/2006/relationships/notesMaster" Target="/ppt/notesMasters/notesMaster1.xml" Id="Rbb59c8b85c5546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345d9f196a470d" /><Relationship Type="http://schemas.openxmlformats.org/officeDocument/2006/relationships/notesMaster" Target="/ppt/notesMasters/notesMaster1.xml" Id="Rd0fcb9df7b8c42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37ff19bc3d48bb" /><Relationship Type="http://schemas.openxmlformats.org/officeDocument/2006/relationships/notesMaster" Target="/ppt/notesMasters/notesMaster1.xml" Id="R81a839243f8b4a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3ee272667a47f5" /><Relationship Type="http://schemas.openxmlformats.org/officeDocument/2006/relationships/notesMaster" Target="/ppt/notesMasters/notesMaster1.xml" Id="R9d93d71099624b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1606e86b444753" /><Relationship Type="http://schemas.openxmlformats.org/officeDocument/2006/relationships/notesMaster" Target="/ppt/notesMasters/notesMaster1.xml" Id="Ra533bb1fe2a942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a325994aea4b2c" /><Relationship Type="http://schemas.openxmlformats.org/officeDocument/2006/relationships/notesMaster" Target="/ppt/notesMasters/notesMaster1.xml" Id="Rc3bbf5c5087a4a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ca343667694037" /><Relationship Type="http://schemas.openxmlformats.org/officeDocument/2006/relationships/notesMaster" Target="/ppt/notesMasters/notesMaster1.xml" Id="R0ebd32839b1744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6d7fe8a4c04a4c" /><Relationship Type="http://schemas.openxmlformats.org/officeDocument/2006/relationships/notesMaster" Target="/ppt/notesMasters/notesMaster1.xml" Id="Re9f43f2fb01444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5c80389efb41b9" /><Relationship Type="http://schemas.openxmlformats.org/officeDocument/2006/relationships/notesMaster" Target="/ppt/notesMasters/notesMaster1.xml" Id="Rc0bbcfe762be48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0b7b9563194632" /><Relationship Type="http://schemas.openxmlformats.org/officeDocument/2006/relationships/notesMaster" Target="/ppt/notesMasters/notesMaster1.xml" Id="Ra9cbab10e37f41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开场先讲业务问题，再讲技术名词。把听众带到“为什么要独立服务”的判断。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hengshui-tablet-video-http/cmd/httpapi/main.go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这一页给出全场结论：闭环已经成立，但治理仍需投入。强调“能力完整”和“平台成熟”是两个维度。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hengshui-tablet-video-http/docs/downstream-service-readiness-review.md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将三类背景问题与四类建设目标对应起来，转场到边界页。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hengshui-tablet-video-http/internal/http/router/router.go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先说负责什么，再主动说不负责什么，体现架构边界意识。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hengshui-tablet-video-http/internal/http/router/router.go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按调用层、应用层、异步层、基础设施四列讲；强调 API 与 Worker 分离。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用一条视频贯穿全场：上传、内容理解、播放推荐、行为回流。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说明大文件与长任务为什么不能阻塞同步请求；指出最终一致性是明确取舍。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hengshui-tablet-video-http/internal/application/videoapp/upload.go</a:t>
            </a:r>
          </a:p>
          <a:p xmlns:a="http://schemas.openxmlformats.org/drawingml/2006/main">
            <a:r>
              <a:t>- hengshui-tablet-video-http/internal/infrastructure/transcode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这是可靠性重点页。依次讲 ACK、重试、DLQ、容量信号；不要只说“用了 Redis”。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hengshui-tablet-video-http/internal/infrastructure/redis/stream_reliability.go</a:t>
            </a:r>
          </a:p>
          <a:p xmlns:a="http://schemas.openxmlformats.org/drawingml/2006/main">
            <a:r>
              <a:t>- hengshui-tablet-video-http/cmd/dlqctl/main.go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解释四阶段如何让 AI 链路可恢复、可扩容、可定位。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hengshui-tablet-video-http/internal/infrastructure/redis/knowledge_video_transcode.go</a:t>
            </a:r>
          </a:p>
          <a:p xmlns:a="http://schemas.openxmlformats.org/drawingml/2006/main">
            <a:r>
              <a:t>- hengshui-tablet-video-http/docs/superpowers/specs/2026-06-06-vector-worker-full-redis-stage-decoupling-design.md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先讲输入输出，再讲治理。LLM 不是黑盒主角，工程状态和降级才是。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hengshui-tablet-video-http/internal/application/videoapp/profile/vector.go</a:t>
            </a:r>
          </a:p>
          <a:p xmlns:a="http://schemas.openxmlformats.org/drawingml/2006/main">
            <a:r>
              <a:t>- hengshui-tablet-video-http/internal/infrastructure/ai/fallback_embedder.go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对比题目语义匹配与个性化召回的用户问题；说明 RecBole 训练与线上读取是分离的。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hengshui-tablet-video-http/internal/application/videoapp/recommendation</a:t>
            </a:r>
          </a:p>
          <a:p xmlns:a="http://schemas.openxmlformats.org/drawingml/2006/main">
            <a:r>
              <a:t>- hengshui-tablet-video-http/cmd/recboletrainer/main.go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推荐闭环要落到曝光、观看、reaction、训练和 model_version，而不是停留在“推荐算法”。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hengshui-tablet-video-http/internal/application/videoapp/reaction_worker.go</a:t>
            </a:r>
          </a:p>
          <a:p xmlns:a="http://schemas.openxmlformats.org/drawingml/2006/main">
            <a:r>
              <a:t>- hengshui-tablet-video-http/internal/infrastructure/persistence/sqlqueries/sql.go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这是一个独立亮点：知识点视频不是旁路脚本，而是可导入、可播放、可回流的能力。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hengshui-tablet-video-http/internal/application/knowledgevideo</a:t>
            </a:r>
          </a:p>
          <a:p xmlns:a="http://schemas.openxmlformats.org/drawingml/2006/main">
            <a:r>
              <a:t>- hengshui-tablet-video-http/internal/http/handler/knowledgevideos/handler.go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深色转场页只讲四个能被代码验证的亮点，每个亮点后面都有对应流程页或附录证据。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主动区分管理面与播放面；指出 JWT、环境变量 secret 和 advisory lock 的工程治理价值。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hengshui-tablet-video-http/middleware/admin_auth.go</a:t>
            </a:r>
          </a:p>
          <a:p xmlns:a="http://schemas.openxmlformats.org/drawingml/2006/main">
            <a:r>
              <a:t>- hengshui-tablet-video-http/internal/config/loader.go</a:t>
            </a:r>
          </a:p>
          <a:p xmlns:a="http://schemas.openxmlformats.org/drawingml/2006/main">
            <a:r>
              <a:t>- hengshui-tablet-video-http/internal/infrastructure/persistence/migration.go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把限制讲清楚反而增强可信度：依赖重、资源竞争、外部波动、平台化治理缺口。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hengshui-tablet-video-http/docs/downstream-service-readiness-review.md</a:t>
            </a:r>
          </a:p>
          <a:p xmlns:a="http://schemas.openxmlformats.org/drawingml/2006/main">
            <a:r>
              <a:t>- hengshui-tablet-video-http/configs/video_prod.yml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收束到下一阶段：拆 Worker、补治理、评估推荐、收敛兼容路径。最后重复答辩结论。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hengshui-tablet-video-http/docs/superpowers/specs/2026-07-23-server-deployment-package-design.md</a:t>
            </a:r>
          </a:p>
          <a:p xmlns:a="http://schemas.openxmlformats.org/drawingml/2006/main">
            <a:r>
              <a:t>- hengshui-tablet-video-http/docs/downstream-service-readiness-review.md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附录按需讲，展示进程边界和部署关系。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docker-compose.yml</a:t>
            </a:r>
          </a:p>
          <a:p xmlns:a="http://schemas.openxmlformats.org/drawingml/2006/main">
            <a:r>
              <a:t>- hengshui-tablet-video-http/cmd/worker/main.go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被问接口时按业务分组回答，不逐条朗读路径。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hengshui-tablet-video-http/internal/http/router/router.go</a:t>
            </a:r>
          </a:p>
          <a:p xmlns:a="http://schemas.openxmlformats.org/drawingml/2006/main">
            <a:r>
              <a:t>- hengshui-tablet-video-http/docs/swagger/swagger.yaml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被问并发时给出配置基线，同时强调参数不是容量承诺。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hengshui-tablet-video-http/configs/video_prod.yml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最后用代码路径做证据索引，便于答辩追问时快速定位。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hengshui-tablet-video-http/README.md</a:t>
            </a:r>
          </a:p>
          <a:p xmlns:a="http://schemas.openxmlformats.org/drawingml/2006/main">
            <a:r>
              <a:t>- hengshui-tablet-video-http/internal</a:t>
            </a:r>
          </a:p>
          <a:p xmlns:a="http://schemas.openxmlformats.org/drawingml/2006/main">
            <a:r>
              <a:t>- hengshui-tablet-video-http/cmd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3c9af692d4f6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4d069d4964b41" /><Relationship Type="http://schemas.openxmlformats.org/officeDocument/2006/relationships/slideLayout" Target="/ppt/slideLayouts/slideLayout1.xml" Id="Rfb09a0056e9f4be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09a0056e9f4be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9d99bbd34419b" /><Relationship Type="http://schemas.openxmlformats.org/officeDocument/2006/relationships/notesSlide" Target="/ppt/notesSlides/notesSlide1.xml" Id="R868895225985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2fb673c5f4de9" /><Relationship Type="http://schemas.openxmlformats.org/officeDocument/2006/relationships/notesSlide" Target="/ppt/notesSlides/notesSlide2.xml" Id="R599c9c97da2c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213ac184a463c" /><Relationship Type="http://schemas.openxmlformats.org/officeDocument/2006/relationships/notesSlide" Target="/ppt/notesSlides/notesSlide3.xml" Id="Ra0b55ccaddea4c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e0cead8f48cf" /><Relationship Type="http://schemas.openxmlformats.org/officeDocument/2006/relationships/notesSlide" Target="/ppt/notesSlides/notesSlide4.xml" Id="R7f4784c4751049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704b581a4cbe" /><Relationship Type="http://schemas.openxmlformats.org/officeDocument/2006/relationships/notesSlide" Target="/ppt/notesSlides/notesSlide5.xml" Id="R7c69b7610071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74c196b4d45f0" /><Relationship Type="http://schemas.openxmlformats.org/officeDocument/2006/relationships/notesSlide" Target="/ppt/notesSlides/notesSlide6.xml" Id="Rb0d7b36feb5e4e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bd2e5a35343db" /><Relationship Type="http://schemas.openxmlformats.org/officeDocument/2006/relationships/notesSlide" Target="/ppt/notesSlides/notesSlide7.xml" Id="R5fdd6f36ac3046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b45c89cc94c47" /><Relationship Type="http://schemas.openxmlformats.org/officeDocument/2006/relationships/notesSlide" Target="/ppt/notesSlides/notesSlide8.xml" Id="Rf31e575fc3664d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ba4d95cf4269" /><Relationship Type="http://schemas.openxmlformats.org/officeDocument/2006/relationships/notesSlide" Target="/ppt/notesSlides/notesSlide9.xml" Id="R7589b3cfbb4047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1c891bb8f439f" /><Relationship Type="http://schemas.openxmlformats.org/officeDocument/2006/relationships/notesSlide" Target="/ppt/notesSlides/notesSlide10.xml" Id="R62cb4d6698c447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7ebcd808a4e38" /><Relationship Type="http://schemas.openxmlformats.org/officeDocument/2006/relationships/notesSlide" Target="/ppt/notesSlides/notesSlide11.xml" Id="Ra4e30a34e9c940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cf3bb7464a1c" /><Relationship Type="http://schemas.openxmlformats.org/officeDocument/2006/relationships/notesSlide" Target="/ppt/notesSlides/notesSlide12.xml" Id="R4d90a8934f4c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65810e9eb4400" /><Relationship Type="http://schemas.openxmlformats.org/officeDocument/2006/relationships/notesSlide" Target="/ppt/notesSlides/notesSlide13.xml" Id="R646b6f3f22154f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aa6a961a94100" /><Relationship Type="http://schemas.openxmlformats.org/officeDocument/2006/relationships/notesSlide" Target="/ppt/notesSlides/notesSlide14.xml" Id="R0fe6d61ba8cf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685d0e1fe422f" /><Relationship Type="http://schemas.openxmlformats.org/officeDocument/2006/relationships/notesSlide" Target="/ppt/notesSlides/notesSlide15.xml" Id="R16baf1c8bb8c40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4ed99fad54372" /><Relationship Type="http://schemas.openxmlformats.org/officeDocument/2006/relationships/notesSlide" Target="/ppt/notesSlides/notesSlide16.xml" Id="Rf6d401c22c4c4b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5ad1f58aa468a" /><Relationship Type="http://schemas.openxmlformats.org/officeDocument/2006/relationships/notesSlide" Target="/ppt/notesSlides/notesSlide17.xml" Id="R9a82e078b8784c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d5c1691974565" /><Relationship Type="http://schemas.openxmlformats.org/officeDocument/2006/relationships/notesSlide" Target="/ppt/notesSlides/notesSlide18.xml" Id="Rdad954d4f36043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685cc811649c3" /><Relationship Type="http://schemas.openxmlformats.org/officeDocument/2006/relationships/notesSlide" Target="/ppt/notesSlides/notesSlide19.xml" Id="R01e59b3907964a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5951e8cc44472" /><Relationship Type="http://schemas.openxmlformats.org/officeDocument/2006/relationships/notesSlide" Target="/ppt/notesSlides/notesSlide20.xml" Id="R9bfbd60774bd45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af9adc4348e1" /><Relationship Type="http://schemas.openxmlformats.org/officeDocument/2006/relationships/notesSlide" Target="/ppt/notesSlides/notesSlide21.xml" Id="Rbf598de6888e49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B61F1C-DE4F-4175-9CF9-A433B0F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87B455-7273-427C-8ABC-11E78E2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333756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>
              <a:alpha val="35000"/>
            </a:srgbClr>
          </a:solidFill>
          <a:ln xmlns:a="http://schemas.openxmlformats.org/drawingml/2006/main"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320EAB-8E58-44EF-B471-5039216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960120"/>
            <a:ext cx="443484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>
              <a:alpha val="70000"/>
            </a:srgbClr>
          </a:solidFill>
          <a:ln xmlns:a="http://schemas.openxmlformats.org/drawingml/2006/main"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BE5C3A-A5E6-4703-91D3-FC542D2D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CFBF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0C45F8-8AB0-42D7-93DF-C045C2F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60704"/>
            <a:ext cx="5212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衡桃学堂智能视频服务</a:t>
            </a:r>
          </a:p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架构设计与工程实践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B2354C-27B5-4067-BB5B-3E11970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面向教育场景的上传、转码、内容理解与个性化推荐后端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4339C8-4417-426A-901F-B28633F8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45920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1F69F2B-F2F3-4720-92E8-3B863A6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0240"/>
            <a:ext cx="3566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为什么要独立视频服务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一条视频如何完成处理闭环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哪些设计体现工程取舍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当前边界与下一步演进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11290A2-9DC6-4F14-8968-4EFB54F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07408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适用对象：毕业答辩评委 / 技术管理 / 研发与运维</a:t>
            </a:r>
          </a:p>
        </p:txBody>
      </p:sp>
    </p:spTree>
    <p:extLst>
      <p:ext uri="{BB962C8B-B14F-4D97-AF65-F5344CB8AC3E}">
        <p14:creationId xmlns:p14="http://schemas.microsoft.com/office/powerpoint/2010/main" val="224112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2C80BC-6CEA-4BCE-A197-5FE44C97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EC6E76-FC6E-4A43-88A6-B82ED43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先给结论：视频能力闭环已经成立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201469-2949-4080-8FC2-9DF1248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THESIS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2110F58-86FA-42F9-BB20-BCAD073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B56AB63-AAE3-4856-898D-CD540425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43000"/>
            <a:ext cx="841248" cy="256032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7605630-987F-4A90-9597-B65549A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70432"/>
            <a:ext cx="8412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350823-627F-4AFA-969D-A967BAC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81328"/>
            <a:ext cx="80650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这是一个面向 Java 业务系统的独立 Go HTTP 视频后端：同步接口负责接入与编排，Worker 负责转码、向量化和知识点视频处理，推荐链路负责把内容理解结果转成可消费的片段。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B2ACA32-7C7C-4E34-8008-A0CA3B4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24688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8166D01-D535-40A4-A465-3FC5AD0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1887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A6E3B9-88F0-4730-95C8-CB6865E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76856"/>
            <a:ext cx="2176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对业务的价值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670A0E0-1F60-435B-8F76-EB2C4F56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42032"/>
            <a:ext cx="2176272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把上传、HLS 播放、题目关联、观看回流和推荐能力集中为一套可调用服务，降低主业务系统的媒体复杂度。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6094981-D289-4F7F-A4D8-D711539A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48840"/>
            <a:ext cx="24688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90853F4-E2B0-408C-B9D4-688378A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48840"/>
            <a:ext cx="11887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7AA5DD-1BA7-4441-B706-9AB928C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276856"/>
            <a:ext cx="2176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对技术的价值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963EA9-8FC8-47B2-A446-EC619DD9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542032"/>
            <a:ext cx="2176272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 Redis Streams 把长任务从请求链路剥离，配合对象存储、PostgreSQL + pgvector 和独立训练进程，形成可继续演进的边界。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FE0BEF7-3B49-4AD6-826D-7328FA52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48840"/>
            <a:ext cx="28346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CE0AF8A-BC42-4216-8D24-23804437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48840"/>
            <a:ext cx="11887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63E105-0373-4CD5-89A5-E553790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276856"/>
            <a:ext cx="25420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答辩必须同时看到的事实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165DAE-78B1-43E7-8EB0-599E5EAF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542032"/>
            <a:ext cx="2542032" cy="941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能力完整不等于治理完成：当前依赖 PostgreSQL、Redis、对象存储、FFmpeg 与 AI provider，异步链路长，扩展到更大规模仍需拆分与治理。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D5B0736-F60F-42F0-AE16-2D5CBF06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80467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CC17D8-7EA3-4790-A097-D1AFB47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7589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一句话结论：这是一个工程上务实、链路完整、适合中等规模教育视频场景的综合后端；它的价值在于闭环与可演进，而不是承诺无限规模。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7DC32C9-6F3D-4706-A05F-02E5303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47961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511901-8ADC-4830-8983-5D7D4585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228501-D0D4-4E9A-ACBD-F5B6DD2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背景问题决定了架构必须“服务化 + 异步化”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D5A734-4C6C-4187-9DD0-C165C8B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20F938-08A5-493A-B240-6B82F02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91122A-A0A9-46E1-A0CA-FAC1E13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9659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3B80C4-7ACB-48D4-AE79-3D817325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9576"/>
            <a:ext cx="19659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为什么独立出来做视频服务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E375E29-0DB3-4ED6-87C4-790F0F2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2011680" cy="941832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5EC3298-B84C-438D-BAF8-AC6E1325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55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67D4E9-E80B-4C5A-BFD4-DB1DB56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59CD93-AA92-42B0-8A8B-2FB4840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66420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主系统减负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A59881-BA44-4C05-B21B-1B62DFC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865376"/>
            <a:ext cx="135331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Java 系统不再直接承担大文件、FFmpeg、对象存储和媒体状态细节。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6E5F12-8AD5-41FE-A89A-54837D2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2011680" cy="941832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CE9418-1350-40DD-996F-3268570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5234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74B282-41EF-43A5-AEA4-FF0AAC3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3464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707D113-F1EB-4739-921A-E645F54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76148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长任务异步化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FE73BA-F78F-44CA-9AE1-E8B3C28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962656"/>
            <a:ext cx="135331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转码、封面、ASR、Embedding 和 LLM 精修都可能超出同步请求的合理时延。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A4A4A67-A9C2-4F29-A886-A4BE447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20116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75A2657-622A-48BE-8F81-72700CD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8496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44F8E87-8B02-4CBB-B7E3-E1FB9089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319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76EB55-5B46-4FBE-9063-5EFA2D5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85876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能力统一接入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259847A-DD27-4AF1-9D72-74DD941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059936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新调用统一走 REST API；历史兼容路径仅用于迁移。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5D05E2D-DC8D-462A-8538-74C2ABB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280160"/>
            <a:ext cx="5559552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D6A8A46-F2BE-4EBD-9C9B-9C1535D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48132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本系统希望同时达成的四类目标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86887FF-DA87-463A-B18F-4B406D1B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2880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AC9E4C5-C1F4-4E29-8621-D1A5B44F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2880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C84D6EA-3849-4CA1-B5BA-66DD0A0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195681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能力解耦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FA70589-1345-4462-8232-1771170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22199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Java 管业务控制面，Go 管视频能力面，接口边界可独立演进。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8F9DDC2-46FA-4E4A-8D29-2894A28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9FC4D62-930E-4402-A02B-16A9E74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6582933-CE04-44BD-8F5E-FBE2845B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95681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处理闭环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A72E409-7D61-481A-AF22-ACC0216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22199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从上传、转码到播放、推荐和观看回流，数据链路闭合。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FDAD9F8-BE9D-4CEF-BB26-8B2FD86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6324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88678A4-32FC-4371-8E6F-C75299A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6324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EEA540-F4E5-4944-9F36-21E4359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19125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失败可治理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1EE846B-4FCF-4565-9C7D-D8FF7CA6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45643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队列任务可重试、可查状态；终态失败进入 DLQ，支持人工检查与重放。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82B0B54-36F8-4DCD-B13F-9C1F675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3CA70B7-61CA-4F21-BB2D-78A0BC1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D460EE5-25DD-4AFD-B144-D04B0BD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19125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推荐增强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F59212E-DE3D-4829-A51C-D5DA782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45643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题目向量匹配与 RecBole 个性化召回并存，AI 抖动时保留可用兜底。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2DBDDB5-F9C2-4E1C-9599-F97F1150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870609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7723D4-75D9-489B-9709-FFEAF75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8BC18E-C781-4665-86C4-B5E0CCA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先划清边界，才能准确评价系统价值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4DA395-B467-48C5-AF29-D6C6B96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SCOPE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27D427-A7E3-48B8-8474-6B5277A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F5BEC9-6A4D-4E12-9128-6AC671E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712464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DCFCE7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6F1662-6BB8-44E9-9E7B-66F3397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13632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EE2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F61E73-0AB7-40A9-A8AD-4A7B9022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系统负责什么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869E717-C01E-4C83-91A3-473A570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481328"/>
            <a:ext cx="2011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系统不负责什么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52EC77-2EA2-4592-B82F-49C25A0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28800"/>
            <a:ext cx="31546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视频上传、分片上传与批量归档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HLS 转码、封面生成和任务状态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S3 / RustFS 中媒体资源的代理访问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题目关联、相似视频、随机播放与观看回流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知识点视频 ZIP + XLSX 导入、多视频播放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向量化、推荐数据同步与模型版本读取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DA3420-2723-4FFC-81BB-2EF58673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828800"/>
            <a:ext cx="32918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超大规模 CDN 和全国边缘分发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低延迟直播或实时音视频通话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复杂多租户媒体编排与强隔离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通用 AI 平台或独立模型训练基础设施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未经容量验证的无限吞吐承诺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9B821E-DB1C-418C-AB24-22E2225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边界清晰比能力堆砌更重要：本系统的评价标准是“教育视频闭环是否成立”。</a:t>
            </a:r>
          </a:p>
        </p:txBody>
      </p:sp>
    </p:spTree>
    <p:extLst>
      <p:ext uri="{BB962C8B-B14F-4D97-AF65-F5344CB8AC3E}">
        <p14:creationId xmlns:p14="http://schemas.microsoft.com/office/powerpoint/2010/main" val="856389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950FFA-26A2-43EC-B4FE-122A7F47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C10839-3D9E-438D-AB8F-7F9DBB48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四个运行单元，各自承担清晰职责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9C9A28-6C0B-4357-8D3A-ECE3CEF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F5172E-BD28-486F-829B-907A315C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6F2AF7-D716-43D1-93E0-7FC8974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88720"/>
            <a:ext cx="10515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7D04723-2FCC-46FF-A624-DA45E870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调用层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BBB20B7-1B1B-4795-B45D-D81F3426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188720"/>
            <a:ext cx="10515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83C249-5D64-456B-9C1B-CB022E5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234440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AAA2FEC-39B9-40E5-A415-762988AB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188720"/>
            <a:ext cx="10515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4B3B51-69EB-4AFD-9BF8-9CCD521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234440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异步层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EE4F23-1957-4C3E-81B9-64C5575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188720"/>
            <a:ext cx="10515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4A475-E1B1-4CA8-8BB9-782AFA22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234440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F1239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FB6C312-8660-46B0-B9B1-ACCA1826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1417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6650DB6-D9BC-4321-A732-FD9A0E0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11887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18306D-BE36-48AD-AFCB-2288148F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00784"/>
            <a:ext cx="11247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Java 系统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41847C-FE48-4EB8-A94D-7CE2920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11247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 HTTP/JSON 调用上传、播放、推荐、回流和管理接口。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E99D9CB-87C2-406F-BC5F-AB6AC89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1417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D69DA8C-4D6D-44E9-896F-B7561F94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11887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755F3C0-E875-42F4-8FC9-B164CB1E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71216"/>
            <a:ext cx="112471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浏览器 / 播放器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21A523-82D2-4CE9-9B37-0BB707A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36392"/>
            <a:ext cx="11247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消费播放信息与 HLS 资源，通过媒体代理访问对象存储。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DCCFB8D-12C9-4B4E-BBC0-841E78A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572768"/>
            <a:ext cx="2084832" cy="2084832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737E721-E9B0-41F9-AD0E-C80EA55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572768"/>
            <a:ext cx="118872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82F4D14-6F0A-4DA7-9946-60DB766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1700784"/>
            <a:ext cx="1792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cmd/httpapi + Service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60D3C5B-7466-4DA9-90AB-F83EE6D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1965960"/>
            <a:ext cx="1792224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REST 路由、业务编排、上传启动、任务投递、推荐与观看回流。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5211E6C-7A55-4E9B-8969-51ABB86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572768"/>
            <a:ext cx="184708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8E2F0AE-D93B-4A47-AE46-80C3C1F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572768"/>
            <a:ext cx="11887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A01B37-A149-4410-BF41-D443E5A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00784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转码 Worker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4816F9E-307D-484E-93C4-2269874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965960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消费转码流；FFmpeg 生成 HLS 与封面，回写状态。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8726269-AB1B-4B09-A95F-B6F3115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724912"/>
            <a:ext cx="184708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52E16BE-0E70-419D-B9A2-50DEB058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724912"/>
            <a:ext cx="11887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945DCAB-B797-4B66-A1CF-BBF36C1F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852928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向量 Worker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07641AD-E3C0-42E5-8E95-058E62B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18104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执行 ASR、分段、Embedding 和片段精修。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3C960FA-2A0E-4205-BA1D-94BC99A7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572768"/>
            <a:ext cx="13258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DB41B11-E9AA-472A-9E5D-546BB28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572768"/>
            <a:ext cx="11887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9CF39E-E867-4803-B471-A9C2037C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700784"/>
            <a:ext cx="1033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B27FEF6-19CD-4138-B348-6ADDE66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1965960"/>
            <a:ext cx="1033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元数据、片段、pgvector 与模型版本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AE305DC-D81B-47DE-9508-00C37D9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23160"/>
            <a:ext cx="13258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4CB2B3F-764C-42A4-A361-6E0FC89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23160"/>
            <a:ext cx="11887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BBC36AA-FBAF-4793-8BFC-DE4ADD7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551176"/>
            <a:ext cx="1033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B92AFE7-2A43-46FE-8B35-B18107F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816352"/>
            <a:ext cx="1033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Streams、状态、计数与 DLQ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4E657BB-98F5-4393-B686-08891C53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73552"/>
            <a:ext cx="13258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B76C8B6-2A75-4B39-B548-D621D37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73552"/>
            <a:ext cx="11887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3500E54-048B-440E-B59A-90E80A61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3401568"/>
            <a:ext cx="1033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S3 / RustFS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971E174-D717-43F7-AAAB-5262D57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3666744"/>
            <a:ext cx="1033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原视频、HLS、封面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B0395E08-16A2-4989-9E0D-12BB1F09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23944"/>
            <a:ext cx="13258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6A218B5-BEEA-45AB-BDA1-3499AAD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23944"/>
            <a:ext cx="11887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1655EE2A-A8FF-4651-8CB3-EC5F31B5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4251960"/>
            <a:ext cx="1033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FFmpeg / AI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E2F8BB5-DA30-4E57-8063-A876046B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4517136"/>
            <a:ext cx="1033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媒体处理与内容理解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799103CB-F034-4813-A6FD-BB5B608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1920240"/>
            <a:ext cx="21945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3890E37-5E66-402A-AD3E-FF098A6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20240"/>
            <a:ext cx="21945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183CFDF-276B-4FFC-86CD-298DA12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1920240"/>
            <a:ext cx="219456" cy="2743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564FC0F-0021-40F5-86B9-86EDE7C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986784"/>
            <a:ext cx="4526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BD5E1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55B6DDDE-F2B0-4C63-AEA2-E23EDDF7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4133088"/>
            <a:ext cx="4846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架构关键词：统一 HTTP 接入 + 长任务异步化 + 文件与元数据分离 + 推荐链路可降级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89956AB-D848-459B-948F-B331AA31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854896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E297E7-F9C0-44C0-A233-7D5863F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88635-C0EA-42C1-BD61-C8F9CD4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一条视频如何成为可推荐的知识片段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2446F0-C13D-4B3A-9272-B5F792B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LIFECYCLE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3A24F1-F93F-4D9C-AD16-6314B83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57CD92-892B-4977-AB35-816455D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FF9B71-80A9-4D21-A610-0EB7FB0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456AB2-9414-42C5-AE93-5A3ED56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0020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48A591-E3D4-4A0E-8741-9C9CBC8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52704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上传与转码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D097-1AFB-4597-A58A-FBEE387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2821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API 保存对象和视频记录，投递 transcode stream；worker 成功后才 ACK，生成 HLS 与封面。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27088-C5F1-4B65-A474-CC1ECE3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08D4AC-4F37-4CED-A0A5-35236D1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408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27F7EC-0E55-49DD-AFF3-29C5C2B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231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F49046-1BA5-48FA-89CE-1308BB5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5000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内容理解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E26D4E-706D-47B9-A053-BA3A268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5117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vector worker 下载原视频，粗分段、ASR、LLM 精修、Embedding，写入片段与向量。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06DB81D-7D3D-419D-97DD-00E95BD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2F2B64-49B8-4206-9561-3637DDD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638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BAEA09-C32B-4229-8EB5-F7E8E6C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2461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2880C3-A29D-4DC1-84CC-5DEED4D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7296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播放与推荐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DECEA8-D6EB-49A5-8F44-9A7A9B33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37413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Java 或前端获取播放信息；推荐接口按题目语义或用户 embedding 返回可播放片段。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B287387-0DA3-474F-B1A6-B606AC6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FDA718-2726-4668-A859-5E3541C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86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CDCE46-EF4F-43F4-850E-693835E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069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589EE8-20B6-488A-92F5-57AF18A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9592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行为回流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5EC2BE-D110-457B-9E16-02D85C2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19709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曝光、观看、reaction 回写数据库或 Redis，成为推荐评估和 RecBole 训练样本。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F92B76-411F-40A6-B2D3-9B2411E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并发特征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9D2136-5001-4FEC-88A4-53574EB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53712"/>
            <a:ext cx="7223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真实压力来自“多视频并发”叠加“单视频多阶段并发”，共同竞争 FFmpeg、AI、对象存储和数据库。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76DB14-0349-4094-BD43-628CCDE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386482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E297E7-F9C0-44C0-A233-7D5863F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88635-C0EA-42C1-BD61-C8F9CD4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上传链路把“快响应”和“重处理”分开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2446F0-C13D-4B3A-9272-B5F792B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UPLOAD → HLS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3A24F1-F93F-4D9C-AD16-6314B83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57CD92-892B-4977-AB35-816455D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FF9B71-80A9-4D21-A610-0EB7FB0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456AB2-9414-42C5-AE93-5A3ED56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0020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48A591-E3D4-4A0E-8741-9C9CBC8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52704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创建上传会话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D097-1AFB-4597-A58A-FBEE387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2821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支持普通上传、分片上传和归档上传；接口先获得 uploadId / batchId，再承接大文件。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27088-C5F1-4B65-A474-CC1ECE3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08D4AC-4F37-4CED-A0A5-35236D1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408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27F7EC-0E55-49DD-AFF3-29C5C2B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231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F49046-1BA5-48FA-89CE-1308BB5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5000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对象落盘与登记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E26D4E-706D-47B9-A053-BA3A268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5117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原视频进入 S3 / RustFS，PostgreSQL 保存视频元数据，Redis 保存任务状态。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06DB81D-7D3D-419D-97DD-00E95BD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2F2B64-49B8-4206-9561-3637DDD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638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BAEA09-C32B-4229-8EB5-F7E8E6C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2461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2880C3-A29D-4DC1-84CC-5DEED4D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7296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异步转码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DECEA8-D6EB-49A5-8F44-9A7A9B33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37413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transcode worker 调用 FFmpeg，生成 master.m3u8、分片与封面；成功后更新可播放状态。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B287387-0DA3-474F-B1A6-B606AC6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FDA718-2726-4668-A859-5E3541C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86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CDCE46-EF4F-43F4-850E-693835E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069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589EE8-20B6-488A-92F5-57AF18A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9592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可播放资源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5EC2BE-D110-457B-9E16-02D85C2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19709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播放器通过 /videos/*filepath 访问 HLS；Java 通过状态接口判断任务完成与失败原因。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F92B76-411F-40A6-B2D3-9B2411E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关键取舍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9D2136-5001-4FEC-88A4-53574EB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53712"/>
            <a:ext cx="7223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不让 HTTP 请求等待 FFmpeg；代价是上游必须理解任务状态，并接受最终一致性。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76DB14-0349-4094-BD43-628CCDE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386482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92A506-17E9-42C1-95A6-380446B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DE86C-4F23-49C4-B90F-E455821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成功才 ACK，失败可追踪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04B80C-12B2-432D-BDDD-07A02A2E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RELIABILITY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E0C64A-B508-4D12-97D6-2C06B801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407EC7E-4DF6-4059-9C79-4CCD0A9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1993392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7802A6-B31D-4568-9E0F-5126E28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16152"/>
            <a:ext cx="19933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需要长期盯住的四类信号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E1638A9-5051-4E70-B7D7-E00CBF8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456BA82-278D-4195-87ED-EE9C953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00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1D9883-B54C-4ED2-AB2D-5C3B547E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83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26B652-BFDE-4CC2-850A-DDA7CF8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0992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消费者组与 ACK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8C6DEBB-DD52-4060-B56F-8C5C26A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91109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任务只有在业务处理成功后才确认；进程中断不会把未完成任务伪装成成功。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63DA72-E080-4EF4-AB72-3EEE997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568CA0-A6BF-4812-BF20-B4F02E2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700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8CC663-A0FD-42E4-BA8E-E40AC4F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783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6C6124-09ED-41E6-83F4-FBB17494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0992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重试与退避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FF6855-C758-4907-A670-EE43E63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91109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可恢复的对象存储、AI 或临时资源失败进入重试；重试次数和最后错误需要可观测。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E7E6C61-1DAB-451D-A8EB-222C41A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5A86F2A-2266-4DFC-BC70-0CAA214C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98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12C7C5-DA31-4E20-9B11-84644AA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80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F9083B0-F01E-4EA3-9879-4A961797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80720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DLQ 与人工重放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822B32-5C6E-413D-825B-3BC3FE3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00837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终态失败进入对应 :dlq；cmd/dlqctl 提供 list / replay，支持排障闭环。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C1E0173-A633-46AB-A510-1C15675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18E5F93-661B-4BA9-A821-260FFF2B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98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4E73A8-3682-4051-BC87-799871A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880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2BDABDB-3F3A-4630-BA48-17F041E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80720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状态与容量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0511BB-614B-4EF0-A615-5685623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837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同时关注队列堆积、消费滞后、CPU、连接池、AI 限流和死信增长，避免只看接口成功率。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4C492AD-9DEC-45DE-B119-BAD3CE7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8455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5E7679-CDCD-4433-98E9-F164141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59936"/>
            <a:ext cx="7269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稳定运行不仅靠代码正确，还靠任务治理、容量治理和故障处理机制持续跟上。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E484F75-BE75-49A5-8C69-96757B2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658412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E297E7-F9C0-44C0-A233-7D5863F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88635-C0EA-42C1-BD61-C8F9CD4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向量化四阶段让 AI 链路逐段可治理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2446F0-C13D-4B3A-9272-B5F792B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VECTOR PIPELINE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3A24F1-F93F-4D9C-AD16-6314B83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57CD92-892B-4977-AB35-816455D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FF9B71-80A9-4D21-A610-0EB7FB0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456AB2-9414-42C5-AE93-5A3ED56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0020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48A591-E3D4-4A0E-8741-9C9CBC8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52704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prepare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D097-1AFB-4597-A58A-FBEE387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2821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读取视频、探测时长、生成阶段记录，确保后续任务有可恢复的起点。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27088-C5F1-4B65-A474-CC1ECE3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08D4AC-4F37-4CED-A0A5-35236D1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408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27F7EC-0E55-49DD-AFF3-29C5C2B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231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F49046-1BA5-48FA-89CE-1308BB5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5000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coarse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E26D4E-706D-47B9-A053-BA3A268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5117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以约 30 秒窗口做粗分段与采样 ASR；并发池控制单视频内部资源竞争。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06DB81D-7D3D-419D-97DD-00E95BD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2F2B64-49B8-4206-9561-3637DDD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638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BAEA09-C32B-4229-8EB5-F7E8E6C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2461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2880C3-A29D-4DC1-84CC-5DEED4D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7296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refine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DECEA8-D6EB-49A5-8F44-9A7A9B33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37413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结合 ASR 文本和 LLM 判断边界，按 10–300 秒约束精修知识片段。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B287387-0DA3-474F-B1A6-B606AC6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FDA718-2726-4668-A859-5E3541C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86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CDCE46-EF4F-43F4-850E-693835E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069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589EE8-20B6-488A-92F5-57AF18A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9592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finalize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5EC2BE-D110-457B-9E16-02D85C2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19709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生成 Embedding、摘要与标签，写入 edu_video_segment / 向量字段，标记阶段完成。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F92B76-411F-40A6-B2D3-9B2411E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为什么阶段化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9D2136-5001-4FEC-88A4-53574EB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53712"/>
            <a:ext cx="7223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阶段状态落库，失败可定位；未来可独立扩缩某一段，不必重跑整条链路。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76DB14-0349-4094-BD43-628CCDE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386482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33788C-1554-4551-B1E3-E0FD018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A879AE-3836-42A4-8CD1-6B1FF7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内容理解是一条可解释的分段流水线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5632E5-887D-4C09-9EFE-CD2418BD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CONTENT UNDERSTANDING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34D3D31-DFA8-4FA3-BAAD-1EE6F84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74AFBF-E62C-46A2-BA1F-03EA3AC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FA80ED-98BB-46CD-9EF4-43C8CEE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15104F-F59C-4938-A4B1-6F3D5A6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A0AE4D-5B0A-4B24-9F70-33F983E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原视频 + 音频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FFmpeg 提取音频，ASR 形成时间对齐文本。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223B33-102F-4254-BFFE-0C3C48A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37E857-5861-4128-B8EA-D2B263E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E86FA6-C80B-44D3-9EFE-3062326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1131C-4923-4EDF-BE76-E428E66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粗分段 → ASR → LLM 精修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覆盖、识别、边界判断分工明确。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7F3EEB-C878-4371-817B-3E1C4CB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8BB2BAA-19F5-4D64-A1AB-229E819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4A024F-CEF7-4744-A1A3-E721051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A29E3E-E04B-4D16-9D5C-9EF2C90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可播放片段 + 语义向量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start/end、summary、tags、embedding。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C83231-84C4-4BB5-B725-89C33B7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591056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01D9DE0-1535-4A72-8EA0-EF20488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0D47A5-1FB2-44EF-861C-1C47B55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453896"/>
            <a:ext cx="12984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67EE364-813D-4BC7-985D-ED978C7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719072"/>
            <a:ext cx="1298448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重试、退避、降级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短时异常优先恢复，推荐保留兜底。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29FA96D-F5B6-4D80-A2E9-3C590D9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0"/>
            <a:ext cx="8010144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23C3C4-DDAD-462A-90BF-2AC9070B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36976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设计判断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CBAAABA-323C-4785-A447-F6FAE75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29584"/>
            <a:ext cx="7406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先把不可控的 AI 能力包进可观测、可重试、可分阶段的工程流程，再谈推荐质量。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98D8EE-6410-43F1-BF1B-413B78A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213029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7723D4-75D9-489B-9709-FFEAF75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8BC18E-C781-4665-86C4-B5E0CCA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双推荐路径共享内容底座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4DA395-B467-48C5-AF29-D6C6B96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RECOMMENDATION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27D427-A7E3-48B8-8474-6B5277A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F5BEC9-6A4D-4E12-9128-6AC671E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712464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DCFCE7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6F1662-6BB8-44E9-9E7B-66F3397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13632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EE2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F61E73-0AB7-40A9-A8AD-4A7B9022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题目语义匹配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869E717-C01E-4C83-91A3-473A570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481328"/>
            <a:ext cx="2011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个性化随机播放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52EC77-2EA2-4592-B82F-49C25A0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28800"/>
            <a:ext cx="31546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题目文本 → Embedding → 片段向量相似度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适合冷启动与知识点关联，不依赖用户画像。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DA3420-2723-4FFC-81BB-2EF58673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828800"/>
            <a:ext cx="32918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RecBole user/item embedding → active model_version → 可播放过滤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结合曝光、观看和 reaction；训练独立部署，线上只读取已发布版本。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9B821E-DB1C-418C-AB24-22E2225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856389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E297E7-F9C0-44C0-A233-7D5863F0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88635-C0EA-42C1-BD61-C8F9CD4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推荐闭环：曝光、观看、反馈、训练、发布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2446F0-C13D-4B3A-9272-B5F792B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FEEDBACK LOOP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3A24F1-F93F-4D9C-AD16-6314B83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57CD92-892B-4977-AB35-816455D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FF9B71-80A9-4D21-A610-0EB7FB0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5179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456AB2-9414-42C5-AE93-5A3ED56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0020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48A591-E3D4-4A0E-8741-9C9CBC8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52704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召回与过滤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450D097-1AFB-4597-A58A-FBEE387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2821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按题目或用户 embedding 召回候选，再做 published、可播放、去重和随机 bucket 过滤。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27088-C5F1-4B65-A474-CC1ECE3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08D4AC-4F37-4CED-A0A5-35236D1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408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27F7EC-0E55-49DD-AFF3-29C5C2B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4231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F49046-1BA5-48FA-89CE-1308BB5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5000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曝光与观看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E26D4E-706D-47B9-A053-BA3A2680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5117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记录曝光、观看完成度和 watch records，保留推荐结果被消费后的真实信号。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06DB81D-7D3D-419D-97DD-00E95BD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2F2B64-49B8-4206-9561-3637DDD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1638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BAEA09-C32B-4229-8EB5-F7E8E6CD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2461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2880C3-A29D-4DC1-84CC-5DEED4D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7296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reaction 回流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DECEA8-D6EB-49A5-8F44-9A7A9B33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37413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视频与片段 reaction 进入 Redis Stream 和持久化表，为偏好与负反馈提供数据。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B287387-0DA3-474F-B1A6-B606AC6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802843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FDA718-2726-4668-A859-5E3541C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86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CDCE46-EF4F-43F4-850E-693835E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069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589EE8-20B6-488A-92F5-57AF18A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95928"/>
            <a:ext cx="73700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离线训练与发布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5EC2BE-D110-457B-9E16-02D85C2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197096"/>
            <a:ext cx="73700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recbole_trainer 导出 atomic data、训练评估，通过 gate 后导入 embedding，并更新 active model_version。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F92B76-411F-40A6-B2D3-9B2411E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闭环价值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9D2136-5001-4FEC-88A4-53574EB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553712"/>
            <a:ext cx="7223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线上服务不直接运行 Python 训练；训练失败不会阻断现有模型版本，推荐能力保持可用。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76DB14-0349-4094-BD43-628CCDE8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386482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511901-8ADC-4830-8983-5D7D4585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228501-D0D4-4E9A-ACBD-F5B6DD2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批量知识点视频进入同一能力体系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D5A734-4C6C-4187-9DD0-C165C8B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KNOWLEDGE VIDEO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20F938-08A5-493A-B240-6B82F02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91122A-A0A9-46E1-A0CA-FAC1E13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9659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3B80C4-7ACB-48D4-AE79-3D817325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9576"/>
            <a:ext cx="19659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批量导入如何进入产品闭环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E375E29-0DB3-4ED6-87C4-790F0F2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2011680" cy="941832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5EC3298-B84C-438D-BAF8-AC6E1325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655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867D4E9-E80B-4C5A-BFD4-DB1DB56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59CD93-AA92-42B0-8A8B-2FB4840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66420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归档校验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0A59881-BA44-4C05-B21B-1B62DFC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865376"/>
            <a:ext cx="135331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校验 ZIP、XLSX、条目数和展开上限，拒绝危险或超限归档。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6E5F12-8AD5-41FE-A89A-54837D2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2011680" cy="941832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CE9418-1350-40DD-996F-3268570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5234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74B282-41EF-43A5-AEA4-FF0AAC3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3464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707D113-F1EB-4739-921A-E645F54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76148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批次与进度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FE73BA-F78F-44CA-9AE1-E8B3C28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962656"/>
            <a:ext cx="1353312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创建 batchId，异步转码；管理端可查询进度和失败原因。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A4A4A67-A9C2-4F29-A886-A4BE447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201168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75A2657-622A-48BE-8F81-72700CD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8496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44F8E87-8B02-4CBB-B7E3-E1FB9089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93192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76EB55-5B46-4FBE-9063-5EFA2D5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858768"/>
            <a:ext cx="13533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知识点关联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259847A-DD27-4AF1-9D72-74DD941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059936"/>
            <a:ext cx="13533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一个知识点可关联多个视频，播放接口返回全部可用资源。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5D05E2D-DC8D-462A-8538-74C2ABB7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280160"/>
            <a:ext cx="5559552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D6A8A46-F2BE-4EBD-9C9B-9C1535D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48132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四类落地能力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86887FF-DA87-463A-B18F-4B406D1B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2880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AC9E4C5-C1F4-4E29-8621-D1A5B44F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2880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C84D6EA-3849-4CA1-B5BA-66DD0A0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195681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ZIP + XLSX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FA70589-1345-4462-8232-1771170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22199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标准化批量内容入口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8F9DDC2-46FA-4E4A-8D29-2894A28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9FC4D62-930E-4402-A02B-16A9E74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6582933-CE04-44BD-8F5E-FBE2845B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95681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独立存储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A72E409-7D61-481A-AF22-ACC0216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22199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独立 bucket 与媒体前缀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FDAD9F8-BE9D-4CEF-BB26-8B2FD86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6324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88678A4-32FC-4371-8E6F-C75299A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6324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EEA540-F4E5-4944-9F36-21E4359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19125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多视频播放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1EE846B-4FCF-4565-9C7D-D8FF7CA6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45643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知识点返回全部资源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82B0B54-36F8-4DCD-B13F-9C1F675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2359152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3CA70B7-61CA-4F21-BB2D-78A0BC1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11887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D460EE5-25DD-4AFD-B144-D04B0BD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191256"/>
            <a:ext cx="20665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行为回流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F59212E-DE3D-4829-A51C-D5DA782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3456432"/>
            <a:ext cx="206654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playbacks 记录消费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2DBDDB5-F9C2-4E1C-9599-F97F1150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870609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B61F1C-DE4F-4175-9CF9-A433B0F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87B455-7273-427C-8ABC-11E78E2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333756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>
              <a:alpha val="35000"/>
            </a:srgbClr>
          </a:solidFill>
          <a:ln xmlns:a="http://schemas.openxmlformats.org/drawingml/2006/main"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320EAB-8E58-44EF-B471-5039216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960120"/>
            <a:ext cx="4434840" cy="2606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>
              <a:alpha val="70000"/>
            </a:srgbClr>
          </a:solidFill>
          <a:ln xmlns:a="http://schemas.openxmlformats.org/drawingml/2006/main"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BE5C3A-A5E6-4703-91D3-FC542D2D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CFBF1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50C45F8-8AB0-42D7-93DF-C045C2F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60704"/>
            <a:ext cx="5212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四个亮点，证明这是工程设计而不只是功能拼接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B2354C-27B5-4067-BB5B-3E11970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亮点证据：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01 · HTTP + Worker：同步接入和长任务执行分离。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02 · Streams + DLQ：成功 ACK、重试和死信重放。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03 · 分阶段 AI：prepare / coarse / refine / finalize。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04 · 推荐可降级：题目匹配、RecBole 与 Gorse 按场景组合。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4339C8-4417-426A-901F-B28633F8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45920"/>
            <a:ext cx="1188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工程判断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1F69F2B-F2F3-4720-92E8-3B863A6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0240"/>
            <a:ext cx="3566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每个亮点都对应真实代码路径：队列可靠性、AI 阶段状态、模型版本和故障兜底。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11290A2-9DC6-4F14-8968-4EFB54F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07408"/>
            <a:ext cx="5303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亮点不是“没有问题”，而是在当前教育视频目标下做出了合理取舍。</a:t>
            </a:r>
          </a:p>
        </p:txBody>
      </p:sp>
    </p:spTree>
    <p:extLst>
      <p:ext uri="{BB962C8B-B14F-4D97-AF65-F5344CB8AC3E}">
        <p14:creationId xmlns:p14="http://schemas.microsoft.com/office/powerpoint/2010/main" val="224112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37723D4-75D9-489B-9709-FFEAF75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8BC18E-C781-4665-86C4-B5E0CCA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管理面收紧，播放面保持可用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4DA395-B467-48C5-AF29-D6C6B96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SECURITY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27D427-A7E3-48B8-8474-6B5277A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F5BEC9-6A4D-4E12-9128-6AC671E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712464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DCFCE7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6F1662-6BB8-44E9-9E7B-66F3397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13632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EE2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F61E73-0AB7-40A9-A8AD-4A7B9022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管理面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869E717-C01E-4C83-91A3-473A570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481328"/>
            <a:ext cx="2011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公开/业务播放面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552EC77-2EA2-4592-B82F-49C25A0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28800"/>
            <a:ext cx="31546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JWT 保护上传、删除、发布、推荐管理、知识点导入等 adminRoutes。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JWT secret 支持环境变量覆盖；鉴权关注“谁能改变系统状态”。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DA3420-2723-4FFC-81BB-2EF58673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828800"/>
            <a:ext cx="32918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播放、题库、推荐和观看回流保留 REST 路径；媒体通过两个代理前缀访问。</a:t>
            </a:r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3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HTTP 与 Worker 的数据库迁移由 advisory lock 串行化。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9B821E-DB1C-418C-AB24-22E2225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8563890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CB6E2A-D4DC-4B54-95CB-161A110F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C3E562-CD15-47A0-BB90-93D6C5EE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系统可用，但治理仍未完成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830B8A-1EAA-4F2C-9BEA-A5F3A4D8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TRADE-OFFS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3B5252D-F34B-4267-88B9-8BA2EA6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938D42-6C97-441D-B9B4-E256810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8010144" cy="3182112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EE2E2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456737-B93B-4CD6-A26A-36A8C982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572768"/>
            <a:ext cx="184708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FEE2E2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DC8B831-B2F8-459C-86FC-679B033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572768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C2B91E-38B8-4E47-9F46-9CC80976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00784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依赖重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1B5680-AEFC-4B52-B246-DD49C3C2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65960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依赖 PostgreSQL、Redis、对象存储、FFmpeg 与 AI；部署环境必须完整。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AE90AD-0CC3-4C6F-932E-E64B671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572768"/>
            <a:ext cx="184708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FEE2E2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BC14680-2BB0-4C50-8AF8-4FCF4F16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572768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333B299-5FE6-41B3-808A-9DC42C1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700784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资源竞争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494090-A2F8-4FA0-8615-B0B56FA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965960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 Worker 简化部署，但三类任务共享资源，需要容量规划。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86FCF73-6A71-416F-A0E4-2E93AEB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72768"/>
            <a:ext cx="184708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FEE2E2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CB1994E-2955-4807-8DD6-45A76C6F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72768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5811CE9-134F-4872-9D72-7ADBDF1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700784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外部波动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E83157-40E0-49A7-90D6-7DC9CAE8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965960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波动拉长任务时延；重试、退避和推荐降级降低影响。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32F0A3F-22E2-438A-9379-350FCC9E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72768"/>
            <a:ext cx="14813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FEE2E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1298630-BF15-43C4-BBBF-B6B561A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572768"/>
            <a:ext cx="11887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FE732E-8CD7-4A79-BEF0-4A68A38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1700784"/>
            <a:ext cx="11887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服务治理缺口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F41908A-AE47-4C24-96F1-F82ACEF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1965960"/>
            <a:ext cx="11887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幂等、回调、限流、trace 与标准错误码仍待完善。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593C91E-E9F0-43FB-A489-4CA1D17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612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这些问题不等于系统不可用，而是说明它需要配套的容量规划、监控告警和演进节奏。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36DA9E7-DF66-435A-8345-1794132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架构讲解</a:t>
            </a:r>
          </a:p>
        </p:txBody>
      </p:sp>
    </p:spTree>
    <p:extLst>
      <p:ext uri="{BB962C8B-B14F-4D97-AF65-F5344CB8AC3E}">
        <p14:creationId xmlns:p14="http://schemas.microsoft.com/office/powerpoint/2010/main" val="16184959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595CA8-2506-467F-8FD9-BEEAEAEB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E7E2D1-084D-4EF3-AF82-02DA192F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下一阶段：把能力转化为治理能力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F7DE31-1C5A-4A57-832B-1D9BF17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4A5DD9-D1AF-4F17-9A5D-55EBFD4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411A0BF-4A4C-448C-972E-2DA32C3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8288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A13138-2B5C-42A0-B32A-17354306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887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BDD7B0-9DCC-4285-B141-2235A0D3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5361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下一步 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485E0E-BEBD-45E9-885C-4906436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46504"/>
            <a:ext cx="15361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转码、向量、知识点处理按资源类型独立扩缩。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F472E77-93B1-43DE-B277-0BED397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353312"/>
            <a:ext cx="18288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E8627A4-7359-411D-9E40-6B53835F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353312"/>
            <a:ext cx="11887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9AC98F-AD2F-4E10-B9F6-41B1ED45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81328"/>
            <a:ext cx="15361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下一步 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2C40CC-F3B0-4036-93E1-C735E8B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746504"/>
            <a:ext cx="15361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完善幂等、回调、限流、DLQ 面板与 trace。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01D77A1-AFE4-49D5-B972-4E0DDAF9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1353312"/>
            <a:ext cx="182880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C770309-4A34-4AA2-A989-B855D88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1353312"/>
            <a:ext cx="11887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8BCC62F-7830-473C-82D2-7C93060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481328"/>
            <a:ext cx="15361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下一步 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686853C-1621-4F2B-9DF6-E63232DF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746504"/>
            <a:ext cx="1536192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联动模型版本、离线指标与线上反馈。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CAABCB3-2014-4BD2-AFB0-0ADF99A6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53312"/>
            <a:ext cx="18105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1D25187-D434-4892-8864-1D75FE7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53312"/>
            <a:ext cx="11887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258E728-AD9A-4A02-9221-F11B7EEF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481328"/>
            <a:ext cx="15179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下一步 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CAAC32C-968E-4540-8B49-99A05F3A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746504"/>
            <a:ext cx="1517904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新集成统一 REST，历史路径逐步迁移。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1E73E06-F7BA-429B-A769-F2429743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07792"/>
            <a:ext cx="8010144" cy="1115568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0C2834-3747-4284-A54D-DEBCAD05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A80164E-813B-460A-A2F6-6C54A980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65379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系统已形成上传、处理、理解、推荐和反馈闭环；下一阶段重点是可观测、可恢复与可扩缩。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BB5A48-3495-4A10-BCC5-AC43CF9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7907639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33788C-1554-4551-B1E3-E0FD018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A879AE-3836-42A4-8CD1-6B1FF7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附录 A：运行拓扑与进程边界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5632E5-887D-4C09-9EFE-CD2418BD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APPENDIX 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34D3D31-DFA8-4FA3-BAAD-1EE6F84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74AFBF-E62C-46A2-BA1F-03EA3AC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FA80ED-98BB-46CD-9EF4-43C8CEE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15104F-F59C-4938-A4B1-6F3D5A6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A0AE4D-5B0A-4B24-9F70-33F983E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Gin Router + REST API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Java / Browser / Player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223B33-102F-4254-BFFE-0C3C48A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37E857-5861-4128-B8EA-D2B263E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E86FA6-C80B-44D3-9EFE-3062326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1131C-4923-4EDF-BE76-E428E66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videoapp.Service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knowledgevideo.Service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recommendation.Service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7F3EEB-C878-4371-817B-3E1C4CB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8BB2BAA-19F5-4D64-A1AB-229E819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4A024F-CEF7-4744-A1A3-E721051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异步层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A29E3E-E04B-4D16-9D5C-9EF2C90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cmd/worker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transcode / vector / knowledge-video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C83231-84C4-4BB5-B725-89C33B7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591056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01D9DE0-1535-4A72-8EA0-EF20488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0D47A5-1FB2-44EF-861C-1C47B55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453896"/>
            <a:ext cx="12984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67EE364-813D-4BC7-985D-ED978C7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719072"/>
            <a:ext cx="1298448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PostgreSQL + pgvector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S3 / RustFS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FFmpeg / AI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29FA96D-F5B6-4D80-A2E9-3C590D9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0"/>
            <a:ext cx="8010144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23C3C4-DDAD-462A-90BF-2AC9070B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36976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运行原则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CBAAABA-323C-4785-A447-F6FAE75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29584"/>
            <a:ext cx="7406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HTTP API 与 combined worker 可分别启停；recbole_trainer 独立进程，不在主服务容器中执行 Python 训练。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98D8EE-6410-43F1-BF1B-413B78A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2130294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33788C-1554-4551-B1E3-E0FD018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A879AE-3836-42A4-8CD1-6B1FF7B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附录 B：REST API 按业务能力分组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5632E5-887D-4C09-9EFE-CD2418BD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APPENDIX B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34D3D31-DFA8-4FA3-BAAD-1EE6F84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74AFBF-E62C-46A2-BA1F-03EA3AC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FA80ED-98BB-46CD-9EF4-43C8CEE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15104F-F59C-4938-A4B1-6F3D5A6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上传与媒体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6A0AE4D-5B0A-4B24-9F70-33F983E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/api/videos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/api/videos/uploads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/api/transcode-tasks/:id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223B33-102F-4254-BFFE-0C3C48A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2700">
            <a:solidFill>
              <a:srgbClr val="CCFBF1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37E857-5861-4128-B8EA-D2B263E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E86FA6-C80B-44D3-9EFE-3062326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播放与回流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1131C-4923-4EDF-BE76-E428E66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/api/videos/:id/play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/api/video-segments/random-play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/api/watch-records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7F3EEB-C878-4371-817B-3E1C4CB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883664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EF3C7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8BB2BAA-19F5-4D64-A1AB-229E819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4A024F-CEF7-4744-A1A3-E721051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453896"/>
            <a:ext cx="15910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推荐与题库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A29E3E-E04B-4D16-9D5C-9EF2C90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719072"/>
            <a:ext cx="1591056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/api/recommendations/by-question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/api/recommendations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/api/questions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7C83231-84C4-4BB5-B725-89C33B7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591056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01D9DE0-1535-4A72-8EA0-EF20488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325880"/>
            <a:ext cx="1188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E0D47A5-1FB2-44EF-861C-1C47B55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453896"/>
            <a:ext cx="12984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知识点视频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67EE364-813D-4BC7-985D-ED978C7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1719072"/>
            <a:ext cx="1298448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/api/admin/knowledge-videos/batches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/api/knowledge-points/:id/videos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29FA96D-F5B6-4D80-A2E9-3C590D9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0"/>
            <a:ext cx="8010144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723C3C4-DDAD-462A-90BF-2AC9070B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36976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接口原则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CBAAABA-323C-4785-A447-F6FAE75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29584"/>
            <a:ext cx="7406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新调用优先 REST 路径；兼容路径保留用于迁移，不作为新系统的默认依赖。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98D8EE-6410-43F1-BF1B-413B78A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2130294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92A506-17E9-42C1-95A6-380446B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DE86C-4F23-49C4-B90F-E455821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附录 C：关键并发参数与容量关注点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04B80C-12B2-432D-BDDD-07A02A2E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APPENDIX C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E0C64A-B508-4D12-97D6-2C06B801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407EC7E-4DF6-4059-9C79-4CCD0A9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1993392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EAFE"/>
          </a:solidFill>
          <a:ln xmlns:a="http://schemas.openxmlformats.org/drawingml/2006/main" w="12700">
            <a:solidFill>
              <a:srgbClr val="DCEAF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7802A6-B31D-4568-9E0F-5126E28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16152"/>
            <a:ext cx="19933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需要长期盯住的四类信号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E1638A9-5051-4E70-B7D7-E00CBF8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456BA82-278D-4195-87ED-EE9C953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00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1D9883-B54C-4ED2-AB2D-5C3B547E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83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26B652-BFDE-4CC2-850A-DDA7CF8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70992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转码并发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8C6DEBB-DD52-4060-B56F-8C5C26A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91109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Transcode.WorkerCount = 2；单任务最长 180 分钟；FFmpeg 直接竞争 CPU 与磁盘/对象存储。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63DA72-E080-4EF4-AB72-3EEE997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568CA0-A6BF-4812-BF20-B4F02E2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70078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8CC663-A0FD-42E4-BA8E-E40AC4F5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78308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6C6124-09ED-41E6-83F4-FBB17494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0992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向量化并发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FF6855-C758-4907-A670-EE43E63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91109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CoarseWorkers = 12、ASRWorkers = 8；阶段 worker 分别为 1 / 2 / 2 / 1。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E7E6C61-1DAB-451D-A8EB-222C41A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5A86F2A-2266-4DFC-BC70-0CAA214C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98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12C7C5-DA31-4E20-9B11-84644AA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880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F9083B0-F01E-4EA3-9879-4A961797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80720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任务与状态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822B32-5C6E-413D-825B-3BC3FE3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00837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Redis Streams 保存队列；PostgreSQL 保存阶段与模型版本；DLQ 记录终态失败。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C1E0173-A633-46AB-A510-1C15675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384048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18E5F93-661B-4BA9-A821-260FFF2B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98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44E73A8-3682-4051-BC87-799871A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880360"/>
            <a:ext cx="38404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2BDABDB-3F3A-4630-BA48-17F041EA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807208"/>
            <a:ext cx="3182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外部依赖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0511BB-614B-4EF0-A615-5685623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8376"/>
            <a:ext cx="31821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 provider timeout、对象存储延迟、PostgreSQL 连接池和 Redis 消费滞后共同决定端到端时延。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4C492AD-9DEC-45DE-B119-BAD3CE7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845552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5E7679-CDCD-4433-98E9-F1641415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59936"/>
            <a:ext cx="7269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参数不是承诺：它们是当前部署基线，真正扩容前仍需压测、监控和容量验证。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E484F75-BE75-49A5-8C69-96757B2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16584126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4C291D1-9C98-4556-B79E-F625EE9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75081C-D199-409E-B947-867CC2CE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附录 D：可核验的工程证据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277849-108B-4EC3-8EF9-4DC9E0B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8640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APPENDIX 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ED3712-9152-4044-98D7-A2871AD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9264"/>
            <a:ext cx="8092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E1E136-95DE-4942-A1FC-D102C7A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2816352" cy="315468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53A0716-68D6-405B-8A34-B2431D71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55448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代码与配置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已经落地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96A9D0A-0151-44FF-9D73-860BFFB3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74520"/>
            <a:ext cx="22402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HTTP API、Worker、可靠队列和推荐闭环均可在代码路径中核验。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A3F789B-7A45-4FC3-A244-C1BFEC5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17320"/>
            <a:ext cx="2267712" cy="1261872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3AA163B-1513-4616-8AFE-9054B18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17320"/>
            <a:ext cx="118872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15EC27B-26CD-4BAB-9F25-CD4D42F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545336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HTTP API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2DF3706-BE6D-44AD-B847-CABCCAF9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1810512"/>
            <a:ext cx="19751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cmd/httpapi + router.go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REST、JWT 管理路由、媒体代理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1272097-CDB8-461F-80A8-74C701CA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417320"/>
            <a:ext cx="2267712" cy="1261872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CEB0A71-63F7-463A-B654-8E44FF6F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417320"/>
            <a:ext cx="118872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FFF97A-EFD5-499B-A4E0-905859A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545336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Combined Worker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403925A-BDB3-43B9-8F50-9873F86E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810512"/>
            <a:ext cx="19751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cmd/worker + combined/app.go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转码、向量、知识点处理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FBA91C-40BB-49DC-8CC7-6EFFC4C6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2267712" cy="1261872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9A3535C-A361-49E5-91CC-2ECFA23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118872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BF9B7BA-C616-4C80-9FA6-49112AB9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3035808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可靠队列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E4D5D28-AD1D-4D17-91FB-E695CB66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3300984"/>
            <a:ext cx="19751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infrastructure/redis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Streams、ACK、重试与 DLQ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63BA13B-F5D6-4612-A96B-9F0E2228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07792"/>
            <a:ext cx="2267712" cy="1261872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C19B12D-D07D-4F79-A410-29B45A8A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07792"/>
            <a:ext cx="118872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>
            <a:solidFill>
              <a:srgbClr val="9F123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7266CE-0F1C-4645-A8CB-1507E7A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35808"/>
            <a:ext cx="19751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答辩提示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EBD71FA-2DC3-4409-AEBC-198C034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300984"/>
            <a:ext cx="19751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被追问实现细节时，优先回到“边界—数据流—失败路径—治理缺口”四个问题。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839477F-CFE7-4E42-9547-1FBA687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206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衡桃学堂视频服务 | 毕业答辩架构讲解</a:t>
            </a:r>
          </a:p>
        </p:txBody>
      </p:sp>
    </p:spTree>
    <p:extLst>
      <p:ext uri="{BB962C8B-B14F-4D97-AF65-F5344CB8AC3E}">
        <p14:creationId xmlns:p14="http://schemas.microsoft.com/office/powerpoint/2010/main" val="8993753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2026-07-29T03:48:31.8180000Z</dcterms:created>
  <dcterms:modified xsi:type="dcterms:W3CDTF">2026-07-29T03:48:31.8180000Z</dcterms:modified>
</coreProperties>
</file>